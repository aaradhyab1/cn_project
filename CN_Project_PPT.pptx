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58" r:id="rId4"/>
    <p:sldId id="265" r:id="rId5"/>
    <p:sldId id="259" r:id="rId6"/>
    <p:sldId id="266" r:id="rId7"/>
    <p:sldId id="260" r:id="rId8"/>
    <p:sldId id="261" r:id="rId9"/>
    <p:sldId id="262" r:id="rId10"/>
    <p:sldId id="268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5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Suggested time: 15 seconds. Introduce FlowGuard and the team only; do not read every PRN. Replace the bracketed placeholders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Suggested time: 40 seconds. Explain why manual review of many flows is hard, then state the three objectives. Mention the scope note: the demo uses sample flow records, not live monitoring of this computer.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Suggested time: 45 seconds. Walk the pipeline top to bottom. The gateway does two jobs: it stores events in SQLite and pushes them over WebSocket to the React dashboard. Point to the technology matrix for the tools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Suggested time: 55 seconds. Pipeline: 90 features, ordinal encoding, median imputation, Decision Tree (0 or 1 plus risk score). Endpoints: POST /api/v1/flows/predict, POST /api/v1/flows/predict_batch, ws://localhost:8000/api/v1/events/stream, and POST /api/v1/lab/backends/{id}/fail.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Suggested time: 50 seconds. 17 of 17 tests passed (7 model pipeline, 6 API, 4 end-to-end) plus a clean TypeScript production build. State the integrity note: the 0.9802 F1 is historical metadata because the training dataset is not bundled.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Suggested time: 65 seconds. Prepare backend and dashboard before the timer starts. The wireframe is an illustrative mockup; keep a screenshot or recording ready as backup and label it as recorded evidence if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Suggested time: 30 seconds. Summarise achievements, state the limitations honestly, then future scope. Fill in each member's actual contribution and read the AI disclosure.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Backup slide. Use during questions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83E6C0E-ADFD-47F0-B7F1-423099F4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90800"/>
            <a:ext cx="73152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3EB337C-CD4A-4141-BBA0-4CF2780A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771900"/>
            <a:ext cx="64008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0CEB062-0151-4898-8FC4-ABE35F2C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57500"/>
            <a:ext cx="73152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25DF88-F753-4FDF-A6BB-A67DF0BF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508D27C-B9C0-4675-8275-8B25BF40C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81153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00FAA36-2918-458A-BCC9-C02C5C86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3166FA6-9A32-40D5-BFFD-76D047AD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63F08DB-F5FB-439D-8043-D5B97093E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3733861-E5E8-4C0E-85FF-C9C377F0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18B774-926B-4AA9-BD18-2D17BAA20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github.com/Aaradhyab1/CN_Project" TargetMode="External"/><Relationship Id="rId4" Type="http://schemas.openxmlformats.org/officeDocument/2006/relationships/hyperlink" Target="https://www.youtube.com/watch?v=wdtV-RWr1j8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37A30E-D1A0-430A-8AA0-F979BB940400}"/>
              </a:ext>
            </a:extLst>
          </p:cNvPr>
          <p:cNvSpPr>
            <a:spLocks noGrp="1"/>
          </p:cNvSpPr>
          <p:nvPr/>
        </p:nvSpPr>
        <p:spPr>
          <a:xfrm>
            <a:off x="523875" y="1234440"/>
            <a:ext cx="8096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4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ctr">
              <a:defRPr sz="44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pPr>
            <a:r>
              <a:rPr sz="4400" b="1" dirty="0">
                <a:solidFill>
                  <a:srgbClr val="20375C"/>
                </a:solidFill>
                <a:latin typeface="Bahnschrift"/>
                <a:ea typeface="Bahnschrift"/>
                <a:cs typeface="Bahnschrift"/>
              </a:rPr>
              <a:t>FlowGuard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49E34-4B5B-4562-AC62-5E3AE182E6D9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rPr>
              <a:t>Computer Networks Laboratory   CSE20110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00DC7-A09E-49E5-9BD7-7620F6452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6647" y="239896"/>
            <a:ext cx="3310706" cy="952500"/>
          </a:xfrm>
          <a:prstGeom prst="rect">
            <a:avLst/>
          </a:prstGeom>
        </p:spPr>
      </p:pic>
      <p:sp>
        <p:nvSpPr>
          <p:cNvPr id="114" name="Text 114"/>
          <p:cNvSpPr txBox="1"/>
          <p:nvPr/>
        </p:nvSpPr>
        <p:spPr>
          <a:xfrm>
            <a:off x="521208" y="1901952"/>
            <a:ext cx="8092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dirty="0">
                <a:solidFill>
                  <a:srgbClr val="1B8F8A"/>
                </a:solidFill>
                <a:latin typeface="Bahnschrift"/>
                <a:cs typeface="Bahnschrift"/>
              </a:rPr>
              <a:t>Network Traffic Monitoring &amp; ML-Assisted Threat Detection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635508" y="2423160"/>
            <a:ext cx="8092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02020"/>
                </a:solidFill>
                <a:latin typeface="Bahnschrift"/>
                <a:cs typeface="Bahnschrift"/>
              </a:rPr>
              <a:t>Computer Networks Laboratory (CSE20110)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02020"/>
                </a:solidFill>
                <a:latin typeface="Bahnschrift"/>
                <a:cs typeface="Bahnschrift"/>
              </a:rPr>
              <a:t>Computer Engineering and Technology</a:t>
            </a:r>
          </a:p>
        </p:txBody>
      </p:sp>
      <p:sp>
        <p:nvSpPr>
          <p:cNvPr id="118" name="Student 118"/>
          <p:cNvSpPr/>
          <p:nvPr/>
        </p:nvSpPr>
        <p:spPr>
          <a:xfrm>
            <a:off x="731520" y="3597268"/>
            <a:ext cx="3840480" cy="36576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202020"/>
                </a:solidFill>
                <a:cs typeface="Bahnschrift"/>
              </a:rPr>
              <a:t>Kalp Lad — 1262240898</a:t>
            </a:r>
            <a:endParaRPr lang="en-US" sz="1400" b="0" i="0" dirty="0">
              <a:solidFill>
                <a:srgbClr val="202020"/>
              </a:solidFill>
              <a:latin typeface="Bahnschrift"/>
              <a:cs typeface="Bahnschrift"/>
            </a:endParaRPr>
          </a:p>
        </p:txBody>
      </p:sp>
      <p:sp>
        <p:nvSpPr>
          <p:cNvPr id="119" name="Student 119"/>
          <p:cNvSpPr/>
          <p:nvPr/>
        </p:nvSpPr>
        <p:spPr>
          <a:xfrm>
            <a:off x="4663440" y="3597268"/>
            <a:ext cx="3840480" cy="36576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202020"/>
                </a:solidFill>
                <a:latin typeface="Bahnschrift"/>
                <a:cs typeface="Bahnschrift"/>
              </a:rPr>
              <a:t>Aviraj Sinha</a:t>
            </a:r>
            <a:r>
              <a:rPr lang="en-US" sz="1400" b="0" i="0" dirty="0">
                <a:solidFill>
                  <a:srgbClr val="202020"/>
                </a:solidFill>
                <a:latin typeface="Bahnschrift"/>
                <a:cs typeface="Bahnschrift"/>
              </a:rPr>
              <a:t>— 1262243767</a:t>
            </a:r>
          </a:p>
        </p:txBody>
      </p:sp>
      <p:sp>
        <p:nvSpPr>
          <p:cNvPr id="120" name="Student 120"/>
          <p:cNvSpPr/>
          <p:nvPr/>
        </p:nvSpPr>
        <p:spPr>
          <a:xfrm>
            <a:off x="731520" y="4091044"/>
            <a:ext cx="3840480" cy="36576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202020"/>
                </a:solidFill>
                <a:latin typeface="Bahnschrift"/>
                <a:cs typeface="Bahnschrift"/>
              </a:rPr>
              <a:t>Aaradhya </a:t>
            </a:r>
            <a:r>
              <a:rPr lang="en-US" sz="1400" dirty="0" err="1">
                <a:solidFill>
                  <a:srgbClr val="202020"/>
                </a:solidFill>
                <a:latin typeface="Bahnschrift"/>
                <a:cs typeface="Bahnschrift"/>
              </a:rPr>
              <a:t>Banginwar</a:t>
            </a:r>
            <a:r>
              <a:rPr lang="en-US" sz="1400" b="0" i="0" dirty="0">
                <a:solidFill>
                  <a:srgbClr val="202020"/>
                </a:solidFill>
                <a:latin typeface="Bahnschrift"/>
                <a:cs typeface="Bahnschrift"/>
              </a:rPr>
              <a:t>— 1262243526</a:t>
            </a:r>
          </a:p>
        </p:txBody>
      </p:sp>
      <p:sp>
        <p:nvSpPr>
          <p:cNvPr id="121" name="Student 121"/>
          <p:cNvSpPr/>
          <p:nvPr/>
        </p:nvSpPr>
        <p:spPr>
          <a:xfrm>
            <a:off x="4663440" y="4091044"/>
            <a:ext cx="3840480" cy="36576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02020"/>
                </a:solidFill>
                <a:latin typeface="Bahnschrift"/>
                <a:cs typeface="Bahnschrift"/>
              </a:rPr>
              <a:t>Palash Ranka— 1262243526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521208" y="5468112"/>
            <a:ext cx="809244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i="0" dirty="0">
                <a:solidFill>
                  <a:srgbClr val="202020"/>
                </a:solidFill>
                <a:latin typeface="Bahnschrift"/>
                <a:cs typeface="Bahnschrift"/>
              </a:rPr>
              <a:t>Group </a:t>
            </a:r>
            <a:r>
              <a:rPr lang="en-US" sz="1400" dirty="0">
                <a:solidFill>
                  <a:srgbClr val="202020"/>
                </a:solidFill>
                <a:latin typeface="Bahnschrift"/>
                <a:cs typeface="Bahnschrift"/>
              </a:rPr>
              <a:t>5</a:t>
            </a:r>
            <a:r>
              <a:rPr lang="en-US" sz="1400" b="0" i="0" dirty="0">
                <a:solidFill>
                  <a:srgbClr val="202020"/>
                </a:solidFill>
                <a:latin typeface="Bahnschrift"/>
                <a:cs typeface="Bahnschrift"/>
              </a:rPr>
              <a:t>   |   Panel </a:t>
            </a:r>
            <a:r>
              <a:rPr lang="en-US" sz="1400" dirty="0">
                <a:solidFill>
                  <a:srgbClr val="202020"/>
                </a:solidFill>
                <a:cs typeface="Bahnschrift"/>
              </a:rPr>
              <a:t>K- iOS   |</a:t>
            </a:r>
            <a:r>
              <a:rPr lang="en-US" sz="1400" b="0" i="0" dirty="0">
                <a:solidFill>
                  <a:srgbClr val="202020"/>
                </a:solidFill>
                <a:latin typeface="Bahnschrift"/>
                <a:cs typeface="Bahnschrift"/>
              </a:rPr>
              <a:t>   Batch [Batch]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i="0" dirty="0">
                <a:solidFill>
                  <a:srgbClr val="202020"/>
                </a:solidFill>
                <a:latin typeface="Bahnschrift"/>
                <a:cs typeface="Bahnschrift"/>
              </a:rPr>
              <a:t>Faculty: Dr. Uma </a:t>
            </a:r>
            <a:r>
              <a:rPr lang="en-US" sz="1400" dirty="0" err="1">
                <a:solidFill>
                  <a:srgbClr val="202020"/>
                </a:solidFill>
                <a:latin typeface="Bahnschrift"/>
                <a:cs typeface="Bahnschrift"/>
              </a:rPr>
              <a:t>Pujeri</a:t>
            </a:r>
            <a:endParaRPr lang="en-US" sz="1400" dirty="0">
              <a:solidFill>
                <a:srgbClr val="202020"/>
              </a:solidFill>
              <a:latin typeface="Bahnschrift"/>
              <a:cs typeface="Bahnschrift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i="0" dirty="0">
                <a:solidFill>
                  <a:srgbClr val="202020"/>
                </a:solidFill>
                <a:latin typeface="Bahnschrift"/>
                <a:cs typeface="Bahnschrift"/>
              </a:rPr>
              <a:t>Academic Year: 2026–27   |   Date: 20-10-2026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8DC9B2-D614-BCA4-6DD7-D578F6FDC5C4}"/>
              </a:ext>
            </a:extLst>
          </p:cNvPr>
          <p:cNvSpPr txBox="1"/>
          <p:nvPr/>
        </p:nvSpPr>
        <p:spPr>
          <a:xfrm>
            <a:off x="514350" y="4681948"/>
            <a:ext cx="82981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Presentation video link</a:t>
            </a:r>
            <a:r>
              <a:rPr lang="en-IN" sz="1600" dirty="0"/>
              <a:t>: </a:t>
            </a:r>
            <a:r>
              <a:rPr lang="en-IN" sz="1600" dirty="0">
                <a:hlinkClick r:id="rId4"/>
              </a:rPr>
              <a:t>https://www.youtube.com/watch?v=wdtV-RWr1j8</a:t>
            </a:r>
            <a:endParaRPr lang="en-IN" sz="1600" dirty="0"/>
          </a:p>
          <a:p>
            <a:r>
              <a:rPr lang="en-IN" sz="1600" b="1" dirty="0" err="1"/>
              <a:t>Github</a:t>
            </a:r>
            <a:r>
              <a:rPr lang="en-IN" sz="1600" b="1" dirty="0"/>
              <a:t> Link</a:t>
            </a:r>
            <a:r>
              <a:rPr lang="en-IN" sz="1600" dirty="0"/>
              <a:t>: https: </a:t>
            </a:r>
            <a:r>
              <a:rPr lang="en-IN" sz="1600" dirty="0">
                <a:hlinkClick r:id="rId5"/>
              </a:rPr>
              <a:t>https://github.com/Aaradhyab1/CN_Project</a:t>
            </a:r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902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8AF3E2-B0A1-48D7-8AAD-58C1AE49894A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ctr"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pPr>
            <a:r>
              <a:rPr sz="2800" b="1" dirty="0">
                <a:solidFill>
                  <a:srgbClr val="20375C"/>
                </a:solidFill>
                <a:latin typeface="Bahnschrift" panose="020B0502040204020203" pitchFamily="34" charset="0"/>
                <a:ea typeface="Bahnschrift"/>
                <a:cs typeface="Bahnschrift"/>
              </a:rPr>
              <a:t>Problem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61110-3343-453F-B653-F85F3964BEA3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dirty="0">
                <a:solidFill>
                  <a:srgbClr val="555555"/>
                </a:solidFill>
                <a:latin typeface="Bahnschrift"/>
                <a:ea typeface="Bahnschrift"/>
                <a:cs typeface="Bahnschrift"/>
              </a:rPr>
              <a:t>Computer Networks Laboratory   CSE20110</a:t>
            </a:r>
          </a:p>
        </p:txBody>
      </p:sp>
      <p:sp>
        <p:nvSpPr>
          <p:cNvPr id="101" name="Heading 101"/>
          <p:cNvSpPr txBox="1"/>
          <p:nvPr/>
        </p:nvSpPr>
        <p:spPr>
          <a:xfrm>
            <a:off x="527685" y="1371600"/>
            <a:ext cx="80924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20375C"/>
                </a:solidFill>
                <a:latin typeface="Bahnschrift"/>
                <a:cs typeface="Bahnschrift"/>
              </a:rPr>
              <a:t>The Problem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527685" y="1709928"/>
            <a:ext cx="80924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02020"/>
                </a:solidFill>
                <a:latin typeface="Bahnschrift"/>
                <a:cs typeface="Bahnschrift"/>
              </a:rPr>
              <a:t>Modern networks generate many flows. Manual checking is slow, so threats can go unnoticed.</a:t>
            </a:r>
          </a:p>
        </p:txBody>
      </p:sp>
      <p:sp>
        <p:nvSpPr>
          <p:cNvPr id="103" name="Stage 103"/>
          <p:cNvSpPr/>
          <p:nvPr/>
        </p:nvSpPr>
        <p:spPr>
          <a:xfrm>
            <a:off x="527685" y="2054543"/>
            <a:ext cx="2240280" cy="105156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i="0" dirty="0">
                <a:solidFill>
                  <a:srgbClr val="20375C"/>
                </a:solidFill>
                <a:latin typeface="Bahnschrift"/>
                <a:cs typeface="Bahnschrift"/>
              </a:rPr>
              <a:t>High Network Traffic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Large volume of connections</a:t>
            </a:r>
          </a:p>
        </p:txBody>
      </p:sp>
      <p:sp>
        <p:nvSpPr>
          <p:cNvPr id="104" name="Stage 104"/>
          <p:cNvSpPr/>
          <p:nvPr/>
        </p:nvSpPr>
        <p:spPr>
          <a:xfrm>
            <a:off x="3408045" y="2054543"/>
            <a:ext cx="2240280" cy="1051560"/>
          </a:xfrm>
          <a:prstGeom prst="roundRect">
            <a:avLst>
              <a:gd name="adj" fmla="val 12000"/>
            </a:avLst>
          </a:prstGeom>
          <a:solidFill>
            <a:srgbClr val="FFF0CC"/>
          </a:solidFill>
          <a:ln w="12700">
            <a:solidFill>
              <a:srgbClr val="D9A93A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i="0" dirty="0">
                <a:solidFill>
                  <a:srgbClr val="20375C"/>
                </a:solidFill>
                <a:latin typeface="Bahnschrift"/>
                <a:cs typeface="Bahnschrift"/>
              </a:rPr>
              <a:t>Slow Manual Analysis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Hard to spot threats</a:t>
            </a:r>
          </a:p>
        </p:txBody>
      </p:sp>
      <p:sp>
        <p:nvSpPr>
          <p:cNvPr id="105" name="Stage 105"/>
          <p:cNvSpPr/>
          <p:nvPr/>
        </p:nvSpPr>
        <p:spPr>
          <a:xfrm>
            <a:off x="6288405" y="2054543"/>
            <a:ext cx="2240280" cy="1051560"/>
          </a:xfrm>
          <a:prstGeom prst="roundRect">
            <a:avLst>
              <a:gd name="adj" fmla="val 12000"/>
            </a:avLst>
          </a:prstGeom>
          <a:solidFill>
            <a:srgbClr val="FBDAD7"/>
          </a:solidFill>
          <a:ln w="12700">
            <a:solidFill>
              <a:srgbClr val="D9726A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i="0" dirty="0">
                <a:solidFill>
                  <a:srgbClr val="20375C"/>
                </a:solidFill>
                <a:latin typeface="Bahnschrift"/>
                <a:cs typeface="Bahnschrift"/>
              </a:rPr>
              <a:t>Missed Threats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Timely alerts needed</a:t>
            </a:r>
          </a:p>
        </p:txBody>
      </p:sp>
      <p:cxnSp>
        <p:nvCxnSpPr>
          <p:cNvPr id="106" name="Connector 106"/>
          <p:cNvCxnSpPr>
            <a:stCxn id="103" idx="3"/>
            <a:endCxn id="104" idx="1"/>
          </p:cNvCxnSpPr>
          <p:nvPr/>
        </p:nvCxnSpPr>
        <p:spPr>
          <a:xfrm>
            <a:off x="2767965" y="2580323"/>
            <a:ext cx="640080" cy="0"/>
          </a:xfrm>
          <a:prstGeom prst="straightConnector1">
            <a:avLst/>
          </a:prstGeom>
          <a:ln w="25400">
            <a:solidFill>
              <a:srgbClr val="1B8F8A"/>
            </a:solidFill>
            <a:tailEnd type="triangle" w="med" len="med"/>
          </a:ln>
        </p:spPr>
      </p:cxnSp>
      <p:cxnSp>
        <p:nvCxnSpPr>
          <p:cNvPr id="107" name="Connector 107"/>
          <p:cNvCxnSpPr>
            <a:stCxn id="104" idx="3"/>
            <a:endCxn id="105" idx="1"/>
          </p:cNvCxnSpPr>
          <p:nvPr/>
        </p:nvCxnSpPr>
        <p:spPr>
          <a:xfrm>
            <a:off x="5648325" y="2580323"/>
            <a:ext cx="640080" cy="0"/>
          </a:xfrm>
          <a:prstGeom prst="straightConnector1">
            <a:avLst/>
          </a:prstGeom>
          <a:ln w="25400">
            <a:solidFill>
              <a:srgbClr val="1B8F8A"/>
            </a:solidFill>
            <a:tailEnd type="triangle" w="med" len="med"/>
          </a:ln>
        </p:spPr>
      </p:cxnSp>
      <p:sp>
        <p:nvSpPr>
          <p:cNvPr id="108" name="Heading 108"/>
          <p:cNvSpPr txBox="1"/>
          <p:nvPr/>
        </p:nvSpPr>
        <p:spPr>
          <a:xfrm>
            <a:off x="521208" y="3751897"/>
            <a:ext cx="80924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20375C"/>
                </a:solidFill>
                <a:latin typeface="Bahnschrift"/>
                <a:cs typeface="Bahnschrift"/>
              </a:rPr>
              <a:t>Project Objectives</a:t>
            </a:r>
          </a:p>
        </p:txBody>
      </p:sp>
      <p:sp>
        <p:nvSpPr>
          <p:cNvPr id="109" name="Objective card 109"/>
          <p:cNvSpPr/>
          <p:nvPr/>
        </p:nvSpPr>
        <p:spPr>
          <a:xfrm>
            <a:off x="521208" y="4163377"/>
            <a:ext cx="2560320" cy="160020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</p:sp>
      <p:sp>
        <p:nvSpPr>
          <p:cNvPr id="110" name="Icon bg 110"/>
          <p:cNvSpPr/>
          <p:nvPr/>
        </p:nvSpPr>
        <p:spPr>
          <a:xfrm>
            <a:off x="658368" y="4300537"/>
            <a:ext cx="457200" cy="457200"/>
          </a:xfrm>
          <a:prstGeom prst="ellipse">
            <a:avLst/>
          </a:prstGeom>
          <a:solidFill>
            <a:srgbClr val="1B8F8A"/>
          </a:solidFill>
          <a:ln>
            <a:noFill/>
          </a:ln>
        </p:spPr>
      </p:sp>
      <p:sp>
        <p:nvSpPr>
          <p:cNvPr id="111" name="Icon 111"/>
          <p:cNvSpPr/>
          <p:nvPr/>
        </p:nvSpPr>
        <p:spPr>
          <a:xfrm>
            <a:off x="777240" y="4419409"/>
            <a:ext cx="219456" cy="219456"/>
          </a:xfrm>
          <a:prstGeom prst="flowChartDecision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2" name="Text 112"/>
          <p:cNvSpPr txBox="1"/>
          <p:nvPr/>
        </p:nvSpPr>
        <p:spPr>
          <a:xfrm>
            <a:off x="1234440" y="4300537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20375C"/>
                </a:solidFill>
                <a:latin typeface="Bahnschrift"/>
                <a:cs typeface="Bahnschrift"/>
              </a:rPr>
              <a:t>Classify Flows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658368" y="4894897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02020"/>
                </a:solidFill>
                <a:latin typeface="Bahnschrift"/>
                <a:cs typeface="Bahnschrift"/>
              </a:rPr>
              <a:t>Label flows with an ML model using 90 input features.</a:t>
            </a:r>
          </a:p>
        </p:txBody>
      </p:sp>
      <p:sp>
        <p:nvSpPr>
          <p:cNvPr id="114" name="Objective card 114"/>
          <p:cNvSpPr/>
          <p:nvPr/>
        </p:nvSpPr>
        <p:spPr>
          <a:xfrm>
            <a:off x="3287268" y="4163377"/>
            <a:ext cx="2560320" cy="160020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</p:sp>
      <p:sp>
        <p:nvSpPr>
          <p:cNvPr id="115" name="Icon bg 115"/>
          <p:cNvSpPr/>
          <p:nvPr/>
        </p:nvSpPr>
        <p:spPr>
          <a:xfrm>
            <a:off x="3424428" y="4300537"/>
            <a:ext cx="457200" cy="457200"/>
          </a:xfrm>
          <a:prstGeom prst="ellipse">
            <a:avLst/>
          </a:prstGeom>
          <a:solidFill>
            <a:srgbClr val="1B8F8A"/>
          </a:solidFill>
          <a:ln>
            <a:noFill/>
          </a:ln>
        </p:spPr>
      </p:sp>
      <p:sp>
        <p:nvSpPr>
          <p:cNvPr id="116" name="Icon 116"/>
          <p:cNvSpPr/>
          <p:nvPr/>
        </p:nvSpPr>
        <p:spPr>
          <a:xfrm>
            <a:off x="3543300" y="4419409"/>
            <a:ext cx="219456" cy="219456"/>
          </a:xfrm>
          <a:prstGeom prst="can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7" name="Text 117"/>
          <p:cNvSpPr txBox="1"/>
          <p:nvPr/>
        </p:nvSpPr>
        <p:spPr>
          <a:xfrm>
            <a:off x="4000500" y="4300537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20375C"/>
                </a:solidFill>
                <a:latin typeface="Bahnschrift"/>
                <a:cs typeface="Bahnschrift"/>
              </a:rPr>
              <a:t>Store Events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3424428" y="4894897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02020"/>
                </a:solidFill>
                <a:latin typeface="Bahnschrift"/>
                <a:cs typeface="Bahnschrift"/>
              </a:rPr>
              <a:t>Save every classified event in local SQLite.</a:t>
            </a:r>
          </a:p>
        </p:txBody>
      </p:sp>
      <p:sp>
        <p:nvSpPr>
          <p:cNvPr id="119" name="Objective card 119"/>
          <p:cNvSpPr/>
          <p:nvPr/>
        </p:nvSpPr>
        <p:spPr>
          <a:xfrm>
            <a:off x="6053328" y="4163377"/>
            <a:ext cx="2560320" cy="160020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</p:sp>
      <p:sp>
        <p:nvSpPr>
          <p:cNvPr id="120" name="Icon bg 120"/>
          <p:cNvSpPr/>
          <p:nvPr/>
        </p:nvSpPr>
        <p:spPr>
          <a:xfrm>
            <a:off x="6190488" y="4300537"/>
            <a:ext cx="457200" cy="457200"/>
          </a:xfrm>
          <a:prstGeom prst="ellipse">
            <a:avLst/>
          </a:prstGeom>
          <a:solidFill>
            <a:srgbClr val="1B8F8A"/>
          </a:solidFill>
          <a:ln>
            <a:noFill/>
          </a:ln>
        </p:spPr>
      </p:sp>
      <p:sp>
        <p:nvSpPr>
          <p:cNvPr id="121" name="Icon 121"/>
          <p:cNvSpPr/>
          <p:nvPr/>
        </p:nvSpPr>
        <p:spPr>
          <a:xfrm>
            <a:off x="6309360" y="4419409"/>
            <a:ext cx="219456" cy="219456"/>
          </a:xfrm>
          <a:prstGeom prst="flowChartDisplay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2" name="Text 122"/>
          <p:cNvSpPr txBox="1"/>
          <p:nvPr/>
        </p:nvSpPr>
        <p:spPr>
          <a:xfrm>
            <a:off x="6766560" y="4300537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20375C"/>
                </a:solidFill>
                <a:latin typeface="Bahnschrift"/>
                <a:cs typeface="Bahnschrift"/>
              </a:rPr>
              <a:t>Display Alerts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6190488" y="4894897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02020"/>
                </a:solidFill>
                <a:latin typeface="Bahnschrift"/>
                <a:cs typeface="Bahnschrift"/>
              </a:rPr>
              <a:t>Show NORMAL / ATTACK results on a live React dashboard.</a:t>
            </a:r>
          </a:p>
        </p:txBody>
      </p:sp>
    </p:spTree>
    <p:extLst>
      <p:ext uri="{BB962C8B-B14F-4D97-AF65-F5344CB8AC3E}">
        <p14:creationId xmlns:p14="http://schemas.microsoft.com/office/powerpoint/2010/main" val="4172260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2A7FE5-9330-404A-8834-8EE47CC698A1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ctr"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pPr>
            <a:r>
              <a:rPr sz="2800" b="1" dirty="0">
                <a:solidFill>
                  <a:srgbClr val="20375C"/>
                </a:solidFill>
                <a:latin typeface="Bahnschrift"/>
                <a:ea typeface="Bahnschrift"/>
                <a:cs typeface="Bahnschrift"/>
              </a:rPr>
              <a:t>Proposed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186328-4620-4152-951C-0F6E0B69DF17}"/>
              </a:ext>
            </a:extLst>
          </p:cNvPr>
          <p:cNvSpPr>
            <a:spLocks noGrp="1"/>
          </p:cNvSpPr>
          <p:nvPr/>
        </p:nvSpPr>
        <p:spPr>
          <a:xfrm>
            <a:off x="523673" y="6315075"/>
            <a:ext cx="5459801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rPr>
              <a:t>Computer Networks Laboratory   CSE20110</a:t>
            </a:r>
          </a:p>
        </p:txBody>
      </p:sp>
      <p:sp>
        <p:nvSpPr>
          <p:cNvPr id="102" name="Arch box 102"/>
          <p:cNvSpPr/>
          <p:nvPr/>
        </p:nvSpPr>
        <p:spPr>
          <a:xfrm>
            <a:off x="1600200" y="1371600"/>
            <a:ext cx="5943600" cy="64008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Flow Source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Replay / Mininet vSwitch</a:t>
            </a:r>
          </a:p>
        </p:txBody>
      </p:sp>
      <p:sp>
        <p:nvSpPr>
          <p:cNvPr id="103" name="Arch box 103"/>
          <p:cNvSpPr/>
          <p:nvPr/>
        </p:nvSpPr>
        <p:spPr>
          <a:xfrm>
            <a:off x="1600200" y="2331720"/>
            <a:ext cx="5943600" cy="64008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Feature Adapter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ML Model</a:t>
            </a:r>
          </a:p>
        </p:txBody>
      </p:sp>
      <p:sp>
        <p:nvSpPr>
          <p:cNvPr id="104" name="Arch box 104"/>
          <p:cNvSpPr/>
          <p:nvPr/>
        </p:nvSpPr>
        <p:spPr>
          <a:xfrm>
            <a:off x="1600200" y="3291840"/>
            <a:ext cx="5943600" cy="64008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Scikit-learn Pipeline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Encoder + Imputer + Decision Tree</a:t>
            </a:r>
          </a:p>
        </p:txBody>
      </p:sp>
      <p:sp>
        <p:nvSpPr>
          <p:cNvPr id="105" name="Arch box 105"/>
          <p:cNvSpPr/>
          <p:nvPr/>
        </p:nvSpPr>
        <p:spPr>
          <a:xfrm>
            <a:off x="1600200" y="4251960"/>
            <a:ext cx="5943600" cy="640080"/>
          </a:xfrm>
          <a:prstGeom prst="roundRect">
            <a:avLst>
              <a:gd name="adj" fmla="val 12000"/>
            </a:avLst>
          </a:prstGeom>
          <a:solidFill>
            <a:srgbClr val="FFF0CC"/>
          </a:solidFill>
          <a:ln w="12700">
            <a:solidFill>
              <a:srgbClr val="D9A93A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FastAPI Gateway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REST + WebSocket broker</a:t>
            </a:r>
          </a:p>
        </p:txBody>
      </p:sp>
      <p:cxnSp>
        <p:nvCxnSpPr>
          <p:cNvPr id="106" name="Connector 106"/>
          <p:cNvCxnSpPr>
            <a:stCxn id="102" idx="2"/>
            <a:endCxn id="103" idx="0"/>
          </p:cNvCxnSpPr>
          <p:nvPr/>
        </p:nvCxnSpPr>
        <p:spPr>
          <a:xfrm>
            <a:off x="4572000" y="2011680"/>
            <a:ext cx="0" cy="320040"/>
          </a:xfrm>
          <a:prstGeom prst="straightConnector1">
            <a:avLst/>
          </a:prstGeom>
          <a:ln w="25400">
            <a:solidFill>
              <a:srgbClr val="1B8F8A"/>
            </a:solidFill>
            <a:tailEnd type="triangle" w="med" len="med"/>
          </a:ln>
        </p:spPr>
      </p:cxnSp>
      <p:cxnSp>
        <p:nvCxnSpPr>
          <p:cNvPr id="107" name="Connector 107"/>
          <p:cNvCxnSpPr>
            <a:stCxn id="103" idx="2"/>
            <a:endCxn id="104" idx="0"/>
          </p:cNvCxnSpPr>
          <p:nvPr/>
        </p:nvCxnSpPr>
        <p:spPr>
          <a:xfrm>
            <a:off x="4572000" y="2971800"/>
            <a:ext cx="0" cy="320040"/>
          </a:xfrm>
          <a:prstGeom prst="straightConnector1">
            <a:avLst/>
          </a:prstGeom>
          <a:ln w="25400">
            <a:solidFill>
              <a:srgbClr val="1B8F8A"/>
            </a:solidFill>
            <a:tailEnd type="triangle" w="med" len="med"/>
          </a:ln>
        </p:spPr>
      </p:cxnSp>
      <p:cxnSp>
        <p:nvCxnSpPr>
          <p:cNvPr id="108" name="Connector 108"/>
          <p:cNvCxnSpPr>
            <a:stCxn id="104" idx="2"/>
            <a:endCxn id="105" idx="0"/>
          </p:cNvCxnSpPr>
          <p:nvPr/>
        </p:nvCxnSpPr>
        <p:spPr>
          <a:xfrm>
            <a:off x="4572000" y="3931920"/>
            <a:ext cx="0" cy="320040"/>
          </a:xfrm>
          <a:prstGeom prst="straightConnector1">
            <a:avLst/>
          </a:prstGeom>
          <a:ln w="25400">
            <a:solidFill>
              <a:srgbClr val="1B8F8A"/>
            </a:solidFill>
            <a:tailEnd type="triangle" w="med" len="med"/>
          </a:ln>
        </p:spPr>
      </p:cxnSp>
      <p:sp>
        <p:nvSpPr>
          <p:cNvPr id="109" name="Arch box 109"/>
          <p:cNvSpPr/>
          <p:nvPr/>
        </p:nvSpPr>
        <p:spPr>
          <a:xfrm>
            <a:off x="1600200" y="5212080"/>
            <a:ext cx="2834640" cy="68580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SQLite Store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flowguard.db</a:t>
            </a:r>
          </a:p>
        </p:txBody>
      </p:sp>
      <p:sp>
        <p:nvSpPr>
          <p:cNvPr id="110" name="Arch box 110"/>
          <p:cNvSpPr/>
          <p:nvPr/>
        </p:nvSpPr>
        <p:spPr>
          <a:xfrm>
            <a:off x="4709160" y="5212080"/>
            <a:ext cx="2834640" cy="685800"/>
          </a:xfrm>
          <a:prstGeom prst="roundRect">
            <a:avLst>
              <a:gd name="adj" fmla="val 12000"/>
            </a:avLst>
          </a:prstGeom>
          <a:solidFill>
            <a:srgbClr val="FBDAD7"/>
          </a:solidFill>
          <a:ln w="12700">
            <a:solidFill>
              <a:srgbClr val="D9726A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React 19 Dashboard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Port 5173</a:t>
            </a:r>
          </a:p>
        </p:txBody>
      </p:sp>
      <p:cxnSp>
        <p:nvCxnSpPr>
          <p:cNvPr id="111" name="Connector 111"/>
          <p:cNvCxnSpPr/>
          <p:nvPr/>
        </p:nvCxnSpPr>
        <p:spPr>
          <a:xfrm>
            <a:off x="3017520" y="4892040"/>
            <a:ext cx="0" cy="320040"/>
          </a:xfrm>
          <a:prstGeom prst="straightConnector1">
            <a:avLst/>
          </a:prstGeom>
          <a:ln w="25400">
            <a:solidFill>
              <a:srgbClr val="1B8F8A"/>
            </a:solidFill>
            <a:tailEnd type="triangle" w="med" len="med"/>
          </a:ln>
        </p:spPr>
      </p:cxnSp>
      <p:cxnSp>
        <p:nvCxnSpPr>
          <p:cNvPr id="112" name="Connector 112"/>
          <p:cNvCxnSpPr/>
          <p:nvPr/>
        </p:nvCxnSpPr>
        <p:spPr>
          <a:xfrm>
            <a:off x="6126480" y="4892040"/>
            <a:ext cx="0" cy="320040"/>
          </a:xfrm>
          <a:prstGeom prst="straightConnector1">
            <a:avLst/>
          </a:prstGeom>
          <a:ln w="25400">
            <a:solidFill>
              <a:srgbClr val="1B8F8A"/>
            </a:solidFill>
            <a:tailEnd type="triangle" w="med" len="med"/>
          </a:ln>
        </p:spPr>
      </p:cxnSp>
      <p:sp>
        <p:nvSpPr>
          <p:cNvPr id="113" name="Text 113"/>
          <p:cNvSpPr txBox="1"/>
          <p:nvPr/>
        </p:nvSpPr>
        <p:spPr>
          <a:xfrm>
            <a:off x="3108960" y="496519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B8F8A"/>
                </a:solidFill>
                <a:latin typeface="Bahnschrift"/>
                <a:cs typeface="Bahnschrift"/>
              </a:rPr>
              <a:t>Store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6217920" y="496519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B8F8A"/>
                </a:solidFill>
                <a:latin typeface="Bahnschrift"/>
                <a:cs typeface="Bahnschrift"/>
              </a:rPr>
              <a:t>Live push</a:t>
            </a:r>
          </a:p>
        </p:txBody>
      </p:sp>
    </p:spTree>
    <p:extLst>
      <p:ext uri="{BB962C8B-B14F-4D97-AF65-F5344CB8AC3E}">
        <p14:creationId xmlns:p14="http://schemas.microsoft.com/office/powerpoint/2010/main" val="203243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2A7FE5-9330-404A-8834-8EE47CC698A1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ctr"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pPr>
            <a:r>
              <a:rPr sz="2800" b="1" dirty="0">
                <a:solidFill>
                  <a:srgbClr val="20375C"/>
                </a:solidFill>
                <a:latin typeface="Bahnschrift"/>
                <a:ea typeface="Bahnschrift"/>
                <a:cs typeface="Bahnschrift"/>
              </a:rPr>
              <a:t>Tools and Technology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186328-4620-4152-951C-0F6E0B69DF17}"/>
              </a:ext>
            </a:extLst>
          </p:cNvPr>
          <p:cNvSpPr>
            <a:spLocks noGrp="1"/>
          </p:cNvSpPr>
          <p:nvPr/>
        </p:nvSpPr>
        <p:spPr>
          <a:xfrm>
            <a:off x="523673" y="6315075"/>
            <a:ext cx="5459801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rPr>
              <a:t>Computer Networks Laboratory   CSE20110</a:t>
            </a:r>
          </a:p>
        </p:txBody>
      </p:sp>
      <p:sp>
        <p:nvSpPr>
          <p:cNvPr id="116" name="Stack card 116"/>
          <p:cNvSpPr/>
          <p:nvPr/>
        </p:nvSpPr>
        <p:spPr>
          <a:xfrm>
            <a:off x="521207" y="1371600"/>
            <a:ext cx="3931920" cy="210312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</p:sp>
      <p:sp>
        <p:nvSpPr>
          <p:cNvPr id="117" name="Text 117"/>
          <p:cNvSpPr txBox="1"/>
          <p:nvPr/>
        </p:nvSpPr>
        <p:spPr>
          <a:xfrm>
            <a:off x="704088" y="153619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Frontend</a:t>
            </a:r>
          </a:p>
        </p:txBody>
      </p:sp>
      <p:pic>
        <p:nvPicPr>
          <p:cNvPr id="118" name="react" descr="reac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57400"/>
            <a:ext cx="411480" cy="411480"/>
          </a:xfrm>
          <a:prstGeom prst="rect">
            <a:avLst/>
          </a:prstGeom>
        </p:spPr>
      </p:pic>
      <p:pic>
        <p:nvPicPr>
          <p:cNvPr id="119" name="typescript" descr="typescrip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" y="2057400"/>
            <a:ext cx="411480" cy="411480"/>
          </a:xfrm>
          <a:prstGeom prst="rect">
            <a:avLst/>
          </a:prstGeom>
        </p:spPr>
      </p:pic>
      <p:pic>
        <p:nvPicPr>
          <p:cNvPr id="120" name="vite" descr="vit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3664" y="2057400"/>
            <a:ext cx="411480" cy="411480"/>
          </a:xfrm>
          <a:prstGeom prst="rect">
            <a:avLst/>
          </a:prstGeom>
        </p:spPr>
      </p:pic>
      <p:pic>
        <p:nvPicPr>
          <p:cNvPr id="121" name="tailwind" descr="tailwind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0591" y="2057400"/>
            <a:ext cx="411480" cy="411480"/>
          </a:xfrm>
          <a:prstGeom prst="rect">
            <a:avLst/>
          </a:prstGeom>
        </p:spPr>
      </p:pic>
      <p:sp>
        <p:nvSpPr>
          <p:cNvPr id="122" name="Text 122"/>
          <p:cNvSpPr txBox="1"/>
          <p:nvPr/>
        </p:nvSpPr>
        <p:spPr>
          <a:xfrm>
            <a:off x="704088" y="265176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React 19 · TypeScript · Vite · Tailwind · Recharts</a:t>
            </a:r>
          </a:p>
        </p:txBody>
      </p:sp>
      <p:sp>
        <p:nvSpPr>
          <p:cNvPr id="123" name="Stack card 123"/>
          <p:cNvSpPr/>
          <p:nvPr/>
        </p:nvSpPr>
        <p:spPr>
          <a:xfrm>
            <a:off x="4681728" y="1371600"/>
            <a:ext cx="3931920" cy="210312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</p:sp>
      <p:sp>
        <p:nvSpPr>
          <p:cNvPr id="124" name="Text 124"/>
          <p:cNvSpPr txBox="1"/>
          <p:nvPr/>
        </p:nvSpPr>
        <p:spPr>
          <a:xfrm>
            <a:off x="4864608" y="153619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Backend</a:t>
            </a:r>
          </a:p>
        </p:txBody>
      </p:sp>
      <p:pic>
        <p:nvPicPr>
          <p:cNvPr id="125" name="python" descr="python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057400"/>
            <a:ext cx="411480" cy="411480"/>
          </a:xfrm>
          <a:prstGeom prst="rect">
            <a:avLst/>
          </a:prstGeom>
        </p:spPr>
      </p:pic>
      <p:pic>
        <p:nvPicPr>
          <p:cNvPr id="126" name="fastapi" descr="fastapi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7256" y="2057400"/>
            <a:ext cx="411480" cy="411480"/>
          </a:xfrm>
          <a:prstGeom prst="rect">
            <a:avLst/>
          </a:prstGeom>
        </p:spPr>
      </p:pic>
      <p:pic>
        <p:nvPicPr>
          <p:cNvPr id="127" name="pydantic" descr="pydantic 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4184" y="2057400"/>
            <a:ext cx="411480" cy="411480"/>
          </a:xfrm>
          <a:prstGeom prst="rect">
            <a:avLst/>
          </a:prstGeom>
        </p:spPr>
      </p:pic>
      <p:sp>
        <p:nvSpPr>
          <p:cNvPr id="128" name="Text 128"/>
          <p:cNvSpPr txBox="1"/>
          <p:nvPr/>
        </p:nvSpPr>
        <p:spPr>
          <a:xfrm>
            <a:off x="4864608" y="265176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Python 3.11+ · FastAPI · Uvicorn · WebSockets · Pydantic</a:t>
            </a:r>
          </a:p>
        </p:txBody>
      </p:sp>
      <p:sp>
        <p:nvSpPr>
          <p:cNvPr id="129" name="Stack card 129"/>
          <p:cNvSpPr/>
          <p:nvPr/>
        </p:nvSpPr>
        <p:spPr>
          <a:xfrm>
            <a:off x="521207" y="3703320"/>
            <a:ext cx="3931920" cy="210312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</p:sp>
      <p:sp>
        <p:nvSpPr>
          <p:cNvPr id="130" name="Text 130"/>
          <p:cNvSpPr txBox="1"/>
          <p:nvPr/>
        </p:nvSpPr>
        <p:spPr>
          <a:xfrm>
            <a:off x="704088" y="3867911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Machine Learning</a:t>
            </a:r>
          </a:p>
        </p:txBody>
      </p:sp>
      <p:pic>
        <p:nvPicPr>
          <p:cNvPr id="131" name="sklearn" descr="sklearn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4389120"/>
            <a:ext cx="411480" cy="411480"/>
          </a:xfrm>
          <a:prstGeom prst="rect">
            <a:avLst/>
          </a:prstGeom>
        </p:spPr>
      </p:pic>
      <p:pic>
        <p:nvPicPr>
          <p:cNvPr id="132" name="pandas" descr="pandas 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6736" y="4389120"/>
            <a:ext cx="411480" cy="411480"/>
          </a:xfrm>
          <a:prstGeom prst="rect">
            <a:avLst/>
          </a:prstGeom>
        </p:spPr>
      </p:pic>
      <p:pic>
        <p:nvPicPr>
          <p:cNvPr id="133" name="numpy" descr="numpy logo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83664" y="4389120"/>
            <a:ext cx="411480" cy="411480"/>
          </a:xfrm>
          <a:prstGeom prst="rect">
            <a:avLst/>
          </a:prstGeom>
        </p:spPr>
      </p:pic>
      <p:sp>
        <p:nvSpPr>
          <p:cNvPr id="134" name="Text 134"/>
          <p:cNvSpPr txBox="1"/>
          <p:nvPr/>
        </p:nvSpPr>
        <p:spPr>
          <a:xfrm>
            <a:off x="704088" y="4983479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scikit-learn · Joblib · Pandas · NumPy</a:t>
            </a:r>
          </a:p>
        </p:txBody>
      </p:sp>
      <p:sp>
        <p:nvSpPr>
          <p:cNvPr id="135" name="Stack card 135"/>
          <p:cNvSpPr/>
          <p:nvPr/>
        </p:nvSpPr>
        <p:spPr>
          <a:xfrm>
            <a:off x="4681728" y="3703320"/>
            <a:ext cx="3931920" cy="210312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</p:sp>
      <p:sp>
        <p:nvSpPr>
          <p:cNvPr id="136" name="Text 136"/>
          <p:cNvSpPr txBox="1"/>
          <p:nvPr/>
        </p:nvSpPr>
        <p:spPr>
          <a:xfrm>
            <a:off x="4864608" y="3867911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Storage &amp; Networking</a:t>
            </a:r>
          </a:p>
        </p:txBody>
      </p:sp>
      <p:pic>
        <p:nvPicPr>
          <p:cNvPr id="137" name="sqlite" descr="sqlite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10328" y="4389120"/>
            <a:ext cx="411480" cy="411480"/>
          </a:xfrm>
          <a:prstGeom prst="rect">
            <a:avLst/>
          </a:prstGeom>
        </p:spPr>
      </p:pic>
      <p:pic>
        <p:nvPicPr>
          <p:cNvPr id="138" name="mininet" descr="mininet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77256" y="4389120"/>
            <a:ext cx="411480" cy="411480"/>
          </a:xfrm>
          <a:prstGeom prst="rect">
            <a:avLst/>
          </a:prstGeom>
        </p:spPr>
      </p:pic>
      <p:sp>
        <p:nvSpPr>
          <p:cNvPr id="139" name="Text 139"/>
          <p:cNvSpPr txBox="1"/>
          <p:nvPr/>
        </p:nvSpPr>
        <p:spPr>
          <a:xfrm>
            <a:off x="4864608" y="4983479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SQLite (WAL) · Mininet · Open vSwitch</a:t>
            </a:r>
          </a:p>
        </p:txBody>
      </p:sp>
    </p:spTree>
    <p:extLst>
      <p:ext uri="{BB962C8B-B14F-4D97-AF65-F5344CB8AC3E}">
        <p14:creationId xmlns:p14="http://schemas.microsoft.com/office/powerpoint/2010/main" val="2032430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D9CBCB-0357-4DC8-A188-4C37277A96D4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ctr"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pPr>
            <a:r>
              <a:rPr sz="2800" b="1" dirty="0">
                <a:solidFill>
                  <a:srgbClr val="20375C"/>
                </a:solidFill>
                <a:latin typeface="Bahnschrift"/>
                <a:ea typeface="Bahnschrift"/>
                <a:cs typeface="Bahnschrift"/>
              </a:rPr>
              <a:t>Implementation: ML Pipeline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8AF794-E3C6-4991-A893-A5574F7F23BE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rPr>
              <a:t>Computer Networks Laboratory   CSE20110</a:t>
            </a:r>
          </a:p>
        </p:txBody>
      </p:sp>
      <p:sp>
        <p:nvSpPr>
          <p:cNvPr id="102" name="Pipeline step 102"/>
          <p:cNvSpPr/>
          <p:nvPr/>
        </p:nvSpPr>
        <p:spPr>
          <a:xfrm>
            <a:off x="521208" y="1783080"/>
            <a:ext cx="1783080" cy="118872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90 Flow Features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UNSW-NB15 schema</a:t>
            </a:r>
          </a:p>
        </p:txBody>
      </p:sp>
      <p:sp>
        <p:nvSpPr>
          <p:cNvPr id="103" name="Pipeline step 103"/>
          <p:cNvSpPr/>
          <p:nvPr/>
        </p:nvSpPr>
        <p:spPr>
          <a:xfrm>
            <a:off x="2624328" y="1783080"/>
            <a:ext cx="1783080" cy="118872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Ordinal Encoding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proto, state, service</a:t>
            </a:r>
          </a:p>
        </p:txBody>
      </p:sp>
      <p:sp>
        <p:nvSpPr>
          <p:cNvPr id="104" name="Pipeline step 104"/>
          <p:cNvSpPr/>
          <p:nvPr/>
        </p:nvSpPr>
        <p:spPr>
          <a:xfrm>
            <a:off x="4727448" y="1783080"/>
            <a:ext cx="1783080" cy="118872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Median Imputation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fills missing values</a:t>
            </a:r>
          </a:p>
        </p:txBody>
      </p:sp>
      <p:sp>
        <p:nvSpPr>
          <p:cNvPr id="105" name="Pipeline step 105"/>
          <p:cNvSpPr/>
          <p:nvPr/>
        </p:nvSpPr>
        <p:spPr>
          <a:xfrm>
            <a:off x="6830568" y="1783080"/>
            <a:ext cx="1783080" cy="1188720"/>
          </a:xfrm>
          <a:prstGeom prst="roundRect">
            <a:avLst>
              <a:gd name="adj" fmla="val 12000"/>
            </a:avLst>
          </a:prstGeom>
          <a:solidFill>
            <a:srgbClr val="FFF0CC"/>
          </a:solidFill>
          <a:ln w="12700">
            <a:solidFill>
              <a:srgbClr val="D9A93A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Decision Tree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Normal / Attack + risk</a:t>
            </a:r>
          </a:p>
        </p:txBody>
      </p:sp>
      <p:cxnSp>
        <p:nvCxnSpPr>
          <p:cNvPr id="106" name="Connector 106"/>
          <p:cNvCxnSpPr>
            <a:stCxn id="102" idx="3"/>
            <a:endCxn id="103" idx="1"/>
          </p:cNvCxnSpPr>
          <p:nvPr/>
        </p:nvCxnSpPr>
        <p:spPr>
          <a:xfrm>
            <a:off x="2304288" y="2377440"/>
            <a:ext cx="320040" cy="0"/>
          </a:xfrm>
          <a:prstGeom prst="straightConnector1">
            <a:avLst/>
          </a:prstGeom>
          <a:ln w="25400">
            <a:solidFill>
              <a:srgbClr val="1B8F8A"/>
            </a:solidFill>
            <a:tailEnd type="triangle" w="med" len="med"/>
          </a:ln>
        </p:spPr>
      </p:cxnSp>
      <p:cxnSp>
        <p:nvCxnSpPr>
          <p:cNvPr id="107" name="Connector 107"/>
          <p:cNvCxnSpPr>
            <a:stCxn id="103" idx="3"/>
            <a:endCxn id="104" idx="1"/>
          </p:cNvCxnSpPr>
          <p:nvPr/>
        </p:nvCxnSpPr>
        <p:spPr>
          <a:xfrm>
            <a:off x="4407408" y="2377440"/>
            <a:ext cx="320040" cy="0"/>
          </a:xfrm>
          <a:prstGeom prst="straightConnector1">
            <a:avLst/>
          </a:prstGeom>
          <a:ln w="25400">
            <a:solidFill>
              <a:srgbClr val="1B8F8A"/>
            </a:solidFill>
            <a:tailEnd type="triangle" w="med" len="med"/>
          </a:ln>
        </p:spPr>
      </p:cxnSp>
      <p:cxnSp>
        <p:nvCxnSpPr>
          <p:cNvPr id="108" name="Connector 108"/>
          <p:cNvCxnSpPr>
            <a:stCxn id="104" idx="3"/>
            <a:endCxn id="105" idx="1"/>
          </p:cNvCxnSpPr>
          <p:nvPr/>
        </p:nvCxnSpPr>
        <p:spPr>
          <a:xfrm>
            <a:off x="6510528" y="2377440"/>
            <a:ext cx="320040" cy="0"/>
          </a:xfrm>
          <a:prstGeom prst="straightConnector1">
            <a:avLst/>
          </a:prstGeom>
          <a:ln w="25400">
            <a:solidFill>
              <a:srgbClr val="1B8F8A"/>
            </a:solidFill>
            <a:tailEnd type="triangle" w="med" len="med"/>
          </a:ln>
        </p:spPr>
      </p:cxnSp>
      <p:sp>
        <p:nvSpPr>
          <p:cNvPr id="109" name="Text 109"/>
          <p:cNvSpPr txBox="1"/>
          <p:nvPr/>
        </p:nvSpPr>
        <p:spPr>
          <a:xfrm>
            <a:off x="521208" y="3566160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dirty="0">
                <a:solidFill>
                  <a:srgbClr val="555555"/>
                </a:solidFill>
                <a:latin typeface="Bahnschrift"/>
                <a:cs typeface="Bahnschrift"/>
              </a:rPr>
              <a:t>Feature groups</a:t>
            </a:r>
          </a:p>
        </p:txBody>
      </p:sp>
      <p:sp>
        <p:nvSpPr>
          <p:cNvPr id="110" name="Feature group 110"/>
          <p:cNvSpPr/>
          <p:nvPr/>
        </p:nvSpPr>
        <p:spPr>
          <a:xfrm>
            <a:off x="521208" y="3977639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Header fields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02020"/>
                </a:solidFill>
                <a:latin typeface="Courier New"/>
                <a:cs typeface="Courier New"/>
              </a:rPr>
              <a:t>sport, dsport, proto</a:t>
            </a:r>
          </a:p>
        </p:txBody>
      </p:sp>
      <p:sp>
        <p:nvSpPr>
          <p:cNvPr id="111" name="Feature group 111"/>
          <p:cNvSpPr/>
          <p:nvPr/>
        </p:nvSpPr>
        <p:spPr>
          <a:xfrm>
            <a:off x="2578608" y="3977639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Inter-arrival times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02020"/>
                </a:solidFill>
                <a:latin typeface="Courier New"/>
                <a:cs typeface="Courier New"/>
              </a:rPr>
              <a:t>Sintpkt, Dintpkt</a:t>
            </a:r>
          </a:p>
        </p:txBody>
      </p:sp>
      <p:sp>
        <p:nvSpPr>
          <p:cNvPr id="112" name="Feature group 112"/>
          <p:cNvSpPr/>
          <p:nvPr/>
        </p:nvSpPr>
        <p:spPr>
          <a:xfrm>
            <a:off x="4636008" y="3977639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TCP metrics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02020"/>
                </a:solidFill>
                <a:latin typeface="Courier New"/>
                <a:cs typeface="Courier New"/>
              </a:rPr>
              <a:t>tcprtt, synack, ackdat</a:t>
            </a:r>
          </a:p>
        </p:txBody>
      </p:sp>
      <p:sp>
        <p:nvSpPr>
          <p:cNvPr id="113" name="Feature group 113"/>
          <p:cNvSpPr/>
          <p:nvPr/>
        </p:nvSpPr>
        <p:spPr>
          <a:xfrm>
            <a:off x="6693408" y="3977639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Host counts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02020"/>
                </a:solidFill>
                <a:latin typeface="Courier New"/>
                <a:cs typeface="Courier New"/>
              </a:rPr>
              <a:t>ct_srv_src, ct_dst_src_ltm</a:t>
            </a:r>
          </a:p>
        </p:txBody>
      </p:sp>
    </p:spTree>
    <p:extLst>
      <p:ext uri="{BB962C8B-B14F-4D97-AF65-F5344CB8AC3E}">
        <p14:creationId xmlns:p14="http://schemas.microsoft.com/office/powerpoint/2010/main" val="450783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D9CBCB-0357-4DC8-A188-4C37277A96D4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ctr"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pPr>
            <a:r>
              <a:rPr sz="2800" b="1" dirty="0">
                <a:solidFill>
                  <a:srgbClr val="20375C"/>
                </a:solidFill>
                <a:latin typeface="Bahnschrift"/>
                <a:ea typeface="Bahnschrift"/>
                <a:cs typeface="Bahnschrift"/>
              </a:rPr>
              <a:t>Implementation: Gateway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8AF794-E3C6-4991-A893-A5574F7F23BE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rPr>
              <a:t>Computer Networks Laboratory   CSE20110</a:t>
            </a:r>
          </a:p>
        </p:txBody>
      </p:sp>
      <p:sp>
        <p:nvSpPr>
          <p:cNvPr id="115" name="Gateway card 115"/>
          <p:cNvSpPr/>
          <p:nvPr/>
        </p:nvSpPr>
        <p:spPr>
          <a:xfrm>
            <a:off x="521207" y="1371600"/>
            <a:ext cx="2606040" cy="164592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</p:sp>
      <p:sp>
        <p:nvSpPr>
          <p:cNvPr id="116" name="Text 116"/>
          <p:cNvSpPr txBox="1"/>
          <p:nvPr/>
        </p:nvSpPr>
        <p:spPr>
          <a:xfrm>
            <a:off x="658368" y="148132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Single Predict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658368" y="1874519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Scores one flow, saves it, broadcasts the alert (&lt;12 ms).</a:t>
            </a:r>
          </a:p>
        </p:txBody>
      </p:sp>
      <p:sp>
        <p:nvSpPr>
          <p:cNvPr id="118" name="Gateway card 118"/>
          <p:cNvSpPr/>
          <p:nvPr/>
        </p:nvSpPr>
        <p:spPr>
          <a:xfrm>
            <a:off x="3264408" y="1371600"/>
            <a:ext cx="2606040" cy="164592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</p:sp>
      <p:sp>
        <p:nvSpPr>
          <p:cNvPr id="119" name="Text 119"/>
          <p:cNvSpPr txBox="1"/>
          <p:nvPr/>
        </p:nvSpPr>
        <p:spPr>
          <a:xfrm>
            <a:off x="3401568" y="148132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Batch Predict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3401568" y="1874519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Scores up to 100 flows per request.</a:t>
            </a:r>
          </a:p>
        </p:txBody>
      </p:sp>
      <p:sp>
        <p:nvSpPr>
          <p:cNvPr id="121" name="Gateway card 121"/>
          <p:cNvSpPr/>
          <p:nvPr/>
        </p:nvSpPr>
        <p:spPr>
          <a:xfrm>
            <a:off x="6007608" y="1371600"/>
            <a:ext cx="2606040" cy="1645920"/>
          </a:xfrm>
          <a:prstGeom prst="roundRect">
            <a:avLst>
              <a:gd name="adj" fmla="val 12000"/>
            </a:avLst>
          </a:prstGeom>
          <a:solidFill>
            <a:srgbClr val="FFF0CC"/>
          </a:solidFill>
          <a:ln w="12700">
            <a:solidFill>
              <a:srgbClr val="D9A93A"/>
            </a:solidFill>
          </a:ln>
        </p:spPr>
      </p:sp>
      <p:sp>
        <p:nvSpPr>
          <p:cNvPr id="122" name="Text 122"/>
          <p:cNvSpPr txBox="1"/>
          <p:nvPr/>
        </p:nvSpPr>
        <p:spPr>
          <a:xfrm>
            <a:off x="6144768" y="148132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Live Stream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6144768" y="1874519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Pushes live events to dashboards with keep-alives.</a:t>
            </a:r>
          </a:p>
        </p:txBody>
      </p:sp>
      <p:sp>
        <p:nvSpPr>
          <p:cNvPr id="124" name="Gateway card 124"/>
          <p:cNvSpPr/>
          <p:nvPr/>
        </p:nvSpPr>
        <p:spPr>
          <a:xfrm>
            <a:off x="521207" y="3291840"/>
            <a:ext cx="3977639" cy="1645920"/>
          </a:xfrm>
          <a:prstGeom prst="roundRect">
            <a:avLst>
              <a:gd name="adj" fmla="val 12000"/>
            </a:avLst>
          </a:prstGeom>
          <a:solidFill>
            <a:srgbClr val="DDF1DF"/>
          </a:solidFill>
          <a:ln w="12700">
            <a:solidFill>
              <a:srgbClr val="6FB37A"/>
            </a:solidFill>
          </a:ln>
        </p:spPr>
      </p:sp>
      <p:sp>
        <p:nvSpPr>
          <p:cNvPr id="125" name="Text 125"/>
          <p:cNvSpPr txBox="1"/>
          <p:nvPr/>
        </p:nvSpPr>
        <p:spPr>
          <a:xfrm>
            <a:off x="658368" y="3401568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Offline Replay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658368" y="3794760"/>
            <a:ext cx="37033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Replays benign and attack flows with a source tag.</a:t>
            </a:r>
          </a:p>
        </p:txBody>
      </p:sp>
      <p:sp>
        <p:nvSpPr>
          <p:cNvPr id="127" name="Gateway card 127"/>
          <p:cNvSpPr/>
          <p:nvPr/>
        </p:nvSpPr>
        <p:spPr>
          <a:xfrm>
            <a:off x="4636008" y="3291840"/>
            <a:ext cx="3977639" cy="1645920"/>
          </a:xfrm>
          <a:prstGeom prst="roundRect">
            <a:avLst>
              <a:gd name="adj" fmla="val 12000"/>
            </a:avLst>
          </a:prstGeom>
          <a:solidFill>
            <a:srgbClr val="FBDAD7"/>
          </a:solidFill>
          <a:ln w="12700">
            <a:solidFill>
              <a:srgbClr val="D9726A"/>
            </a:solidFill>
          </a:ln>
        </p:spPr>
      </p:sp>
      <p:sp>
        <p:nvSpPr>
          <p:cNvPr id="128" name="Text 128"/>
          <p:cNvSpPr txBox="1"/>
          <p:nvPr/>
        </p:nvSpPr>
        <p:spPr>
          <a:xfrm>
            <a:off x="4773168" y="3401568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0375C"/>
                </a:solidFill>
                <a:latin typeface="Bahnschrift"/>
                <a:cs typeface="Bahnschrift"/>
              </a:rPr>
              <a:t>Fault Injection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773168" y="3794760"/>
            <a:ext cx="37033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Simulated backend failure triggers failover and audit log.</a:t>
            </a:r>
          </a:p>
        </p:txBody>
      </p:sp>
      <p:sp>
        <p:nvSpPr>
          <p:cNvPr id="130" name="Endpoints 130"/>
          <p:cNvSpPr/>
          <p:nvPr/>
        </p:nvSpPr>
        <p:spPr>
          <a:xfrm>
            <a:off x="521207" y="5257800"/>
            <a:ext cx="8092440" cy="45720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0375C"/>
                </a:solidFill>
                <a:latin typeface="Courier New"/>
                <a:cs typeface="Courier New"/>
              </a:rPr>
              <a:t>/api/v1/flows/predict  ·  /flows/predict_batch  ·  /events/stream</a:t>
            </a:r>
          </a:p>
        </p:txBody>
      </p:sp>
    </p:spTree>
    <p:extLst>
      <p:ext uri="{BB962C8B-B14F-4D97-AF65-F5344CB8AC3E}">
        <p14:creationId xmlns:p14="http://schemas.microsoft.com/office/powerpoint/2010/main" val="450783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17C623-7343-44B1-AA4A-D1B4C258A90F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ctr"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pPr>
            <a:r>
              <a:rPr sz="2800" b="1" dirty="0">
                <a:solidFill>
                  <a:srgbClr val="20375C"/>
                </a:solidFill>
                <a:latin typeface="Bahnschrift"/>
                <a:ea typeface="Bahnschrift"/>
                <a:cs typeface="Bahnschrift"/>
              </a:rPr>
              <a:t>Testing and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B9A461-CBBC-4245-813A-D1367A360BC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rPr>
              <a:t>Computer Networks Laboratory   CSE20110</a:t>
            </a:r>
          </a:p>
        </p:txBody>
      </p:sp>
      <p:sp>
        <p:nvSpPr>
          <p:cNvPr id="101" name="Heading 101"/>
          <p:cNvSpPr txBox="1"/>
          <p:nvPr/>
        </p:nvSpPr>
        <p:spPr>
          <a:xfrm>
            <a:off x="521208" y="1097280"/>
            <a:ext cx="80924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20375C"/>
                </a:solidFill>
                <a:latin typeface="Bahnschrift"/>
                <a:cs typeface="Bahnschrift"/>
              </a:rPr>
              <a:t>Automated Test Suite</a:t>
            </a:r>
          </a:p>
        </p:txBody>
      </p:sp>
      <p:sp>
        <p:nvSpPr>
          <p:cNvPr id="102" name="Pass ring 102"/>
          <p:cNvSpPr/>
          <p:nvPr/>
        </p:nvSpPr>
        <p:spPr>
          <a:xfrm>
            <a:off x="566928" y="1508760"/>
            <a:ext cx="2011680" cy="2011680"/>
          </a:xfrm>
          <a:prstGeom prst="donut">
            <a:avLst>
              <a:gd name="adj" fmla="val 16000"/>
            </a:avLst>
          </a:prstGeom>
          <a:solidFill>
            <a:srgbClr val="1B8F8A"/>
          </a:solidFill>
          <a:ln>
            <a:noFill/>
          </a:ln>
        </p:spPr>
      </p:sp>
      <p:sp>
        <p:nvSpPr>
          <p:cNvPr id="103" name="Text 103"/>
          <p:cNvSpPr txBox="1"/>
          <p:nvPr/>
        </p:nvSpPr>
        <p:spPr>
          <a:xfrm>
            <a:off x="566928" y="214884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20375C"/>
                </a:solidFill>
                <a:latin typeface="Bahnschrift"/>
                <a:cs typeface="Bahnschrift"/>
              </a:rPr>
              <a:t>17 / 17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566928" y="263347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55555"/>
                </a:solidFill>
                <a:latin typeface="Bahnschrift"/>
                <a:cs typeface="Bahnschrift"/>
              </a:rPr>
              <a:t>tests passed</a:t>
            </a:r>
          </a:p>
        </p:txBody>
      </p:sp>
      <p:sp>
        <p:nvSpPr>
          <p:cNvPr id="105" name="Test row 105"/>
          <p:cNvSpPr/>
          <p:nvPr/>
        </p:nvSpPr>
        <p:spPr>
          <a:xfrm>
            <a:off x="2834640" y="1508760"/>
            <a:ext cx="5779008" cy="475488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</p:sp>
      <p:sp>
        <p:nvSpPr>
          <p:cNvPr id="106" name="Text 106"/>
          <p:cNvSpPr txBox="1"/>
          <p:nvPr/>
        </p:nvSpPr>
        <p:spPr>
          <a:xfrm>
            <a:off x="2926080" y="1536192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Courier New"/>
                <a:cs typeface="Courier New"/>
              </a:rPr>
              <a:t>test_model_pipeline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Features, encoding, imputation</a:t>
            </a:r>
          </a:p>
        </p:txBody>
      </p:sp>
      <p:sp>
        <p:nvSpPr>
          <p:cNvPr id="107" name="Progress bar 107"/>
          <p:cNvSpPr/>
          <p:nvPr/>
        </p:nvSpPr>
        <p:spPr>
          <a:xfrm>
            <a:off x="6537960" y="1636776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6FB37A"/>
          </a:solidFill>
          <a:ln>
            <a:noFill/>
          </a:ln>
        </p:spPr>
      </p:sp>
      <p:sp>
        <p:nvSpPr>
          <p:cNvPr id="108" name="Text 108"/>
          <p:cNvSpPr txBox="1"/>
          <p:nvPr/>
        </p:nvSpPr>
        <p:spPr>
          <a:xfrm>
            <a:off x="7589520" y="1536192"/>
            <a:ext cx="93268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7D32"/>
                </a:solidFill>
                <a:latin typeface="Bahnschrift"/>
                <a:cs typeface="Bahnschrift"/>
              </a:rPr>
              <a:t>7 / 7</a:t>
            </a:r>
          </a:p>
        </p:txBody>
      </p:sp>
      <p:sp>
        <p:nvSpPr>
          <p:cNvPr id="109" name="Test row 109"/>
          <p:cNvSpPr/>
          <p:nvPr/>
        </p:nvSpPr>
        <p:spPr>
          <a:xfrm>
            <a:off x="2834640" y="2039112"/>
            <a:ext cx="5779008" cy="475488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</p:sp>
      <p:sp>
        <p:nvSpPr>
          <p:cNvPr id="110" name="Text 110"/>
          <p:cNvSpPr txBox="1"/>
          <p:nvPr/>
        </p:nvSpPr>
        <p:spPr>
          <a:xfrm>
            <a:off x="2926080" y="2066544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Courier New"/>
                <a:cs typeface="Courier New"/>
              </a:rPr>
              <a:t>test_api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REST validation, predict, batch</a:t>
            </a:r>
          </a:p>
        </p:txBody>
      </p:sp>
      <p:sp>
        <p:nvSpPr>
          <p:cNvPr id="111" name="Progress bar 111"/>
          <p:cNvSpPr/>
          <p:nvPr/>
        </p:nvSpPr>
        <p:spPr>
          <a:xfrm>
            <a:off x="6537960" y="2167128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6FB37A"/>
          </a:solidFill>
          <a:ln>
            <a:noFill/>
          </a:ln>
        </p:spPr>
      </p:sp>
      <p:sp>
        <p:nvSpPr>
          <p:cNvPr id="112" name="Text 112"/>
          <p:cNvSpPr txBox="1"/>
          <p:nvPr/>
        </p:nvSpPr>
        <p:spPr>
          <a:xfrm>
            <a:off x="7589520" y="2066544"/>
            <a:ext cx="93268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7D32"/>
                </a:solidFill>
                <a:latin typeface="Bahnschrift"/>
                <a:cs typeface="Bahnschrift"/>
              </a:rPr>
              <a:t>6 / 6</a:t>
            </a:r>
          </a:p>
        </p:txBody>
      </p:sp>
      <p:sp>
        <p:nvSpPr>
          <p:cNvPr id="113" name="Test row 113"/>
          <p:cNvSpPr/>
          <p:nvPr/>
        </p:nvSpPr>
        <p:spPr>
          <a:xfrm>
            <a:off x="2834640" y="2569464"/>
            <a:ext cx="5779008" cy="475488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</p:sp>
      <p:sp>
        <p:nvSpPr>
          <p:cNvPr id="114" name="Text 114"/>
          <p:cNvSpPr txBox="1"/>
          <p:nvPr/>
        </p:nvSpPr>
        <p:spPr>
          <a:xfrm>
            <a:off x="2926080" y="2596896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Courier New"/>
                <a:cs typeface="Courier New"/>
              </a:rPr>
              <a:t>test_e2e_replay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Replay, SQLite, WebSocket</a:t>
            </a:r>
          </a:p>
        </p:txBody>
      </p:sp>
      <p:sp>
        <p:nvSpPr>
          <p:cNvPr id="115" name="Progress bar 115"/>
          <p:cNvSpPr/>
          <p:nvPr/>
        </p:nvSpPr>
        <p:spPr>
          <a:xfrm>
            <a:off x="6537960" y="269748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6FB37A"/>
          </a:solidFill>
          <a:ln>
            <a:noFill/>
          </a:ln>
        </p:spPr>
      </p:sp>
      <p:sp>
        <p:nvSpPr>
          <p:cNvPr id="116" name="Text 116"/>
          <p:cNvSpPr txBox="1"/>
          <p:nvPr/>
        </p:nvSpPr>
        <p:spPr>
          <a:xfrm>
            <a:off x="7589520" y="2596896"/>
            <a:ext cx="93268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7D32"/>
                </a:solidFill>
                <a:latin typeface="Bahnschrift"/>
                <a:cs typeface="Bahnschrift"/>
              </a:rPr>
              <a:t>4 / 4</a:t>
            </a:r>
          </a:p>
        </p:txBody>
      </p:sp>
      <p:sp>
        <p:nvSpPr>
          <p:cNvPr id="117" name="Test row 117"/>
          <p:cNvSpPr/>
          <p:nvPr/>
        </p:nvSpPr>
        <p:spPr>
          <a:xfrm>
            <a:off x="2834640" y="3099816"/>
            <a:ext cx="5779008" cy="475488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</p:sp>
      <p:sp>
        <p:nvSpPr>
          <p:cNvPr id="118" name="Text 118"/>
          <p:cNvSpPr txBox="1"/>
          <p:nvPr/>
        </p:nvSpPr>
        <p:spPr>
          <a:xfrm>
            <a:off x="2926080" y="3127248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Frontend build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55555"/>
                </a:solidFill>
                <a:latin typeface="Bahnschrift"/>
                <a:cs typeface="Bahnschrift"/>
              </a:rPr>
              <a:t>tsc -b strict, 2,500 modules</a:t>
            </a:r>
          </a:p>
        </p:txBody>
      </p:sp>
      <p:sp>
        <p:nvSpPr>
          <p:cNvPr id="119" name="Progress bar 119"/>
          <p:cNvSpPr/>
          <p:nvPr/>
        </p:nvSpPr>
        <p:spPr>
          <a:xfrm>
            <a:off x="6537960" y="3227832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6FB37A"/>
          </a:solidFill>
          <a:ln>
            <a:noFill/>
          </a:ln>
        </p:spPr>
      </p:sp>
      <p:sp>
        <p:nvSpPr>
          <p:cNvPr id="120" name="Text 120"/>
          <p:cNvSpPr txBox="1"/>
          <p:nvPr/>
        </p:nvSpPr>
        <p:spPr>
          <a:xfrm>
            <a:off x="7589520" y="3127248"/>
            <a:ext cx="93268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7D32"/>
                </a:solidFill>
                <a:latin typeface="Bahnschrift"/>
                <a:cs typeface="Bahnschrift"/>
              </a:rPr>
              <a:t>0 errors</a:t>
            </a:r>
          </a:p>
        </p:txBody>
      </p:sp>
      <p:sp>
        <p:nvSpPr>
          <p:cNvPr id="121" name="Heading 121"/>
          <p:cNvSpPr txBox="1"/>
          <p:nvPr/>
        </p:nvSpPr>
        <p:spPr>
          <a:xfrm>
            <a:off x="521208" y="3703320"/>
            <a:ext cx="80924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20375C"/>
                </a:solidFill>
                <a:latin typeface="Bahnschrift"/>
                <a:cs typeface="Bahnschrift"/>
              </a:rPr>
              <a:t>Key Performance Metrics</a:t>
            </a:r>
          </a:p>
        </p:txBody>
      </p:sp>
      <p:sp>
        <p:nvSpPr>
          <p:cNvPr id="122" name="Stat card 122"/>
          <p:cNvSpPr/>
          <p:nvPr/>
        </p:nvSpPr>
        <p:spPr>
          <a:xfrm>
            <a:off x="521208" y="4069080"/>
            <a:ext cx="2560320" cy="109728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</p:sp>
      <p:sp>
        <p:nvSpPr>
          <p:cNvPr id="123" name="Text 123"/>
          <p:cNvSpPr txBox="1"/>
          <p:nvPr/>
        </p:nvSpPr>
        <p:spPr>
          <a:xfrm>
            <a:off x="630936" y="4114800"/>
            <a:ext cx="234086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B8F8A"/>
                </a:solidFill>
                <a:latin typeface="Bahnschrift"/>
                <a:cs typeface="Bahnschrift"/>
              </a:rPr>
              <a:t>&lt; 15 ms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630936" y="4617720"/>
            <a:ext cx="234086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Avg. inference latency per flow</a:t>
            </a:r>
          </a:p>
        </p:txBody>
      </p:sp>
      <p:sp>
        <p:nvSpPr>
          <p:cNvPr id="125" name="Stat card 125"/>
          <p:cNvSpPr/>
          <p:nvPr/>
        </p:nvSpPr>
        <p:spPr>
          <a:xfrm>
            <a:off x="3287268" y="4069080"/>
            <a:ext cx="2560320" cy="109728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</p:sp>
      <p:sp>
        <p:nvSpPr>
          <p:cNvPr id="126" name="Text 126"/>
          <p:cNvSpPr txBox="1"/>
          <p:nvPr/>
        </p:nvSpPr>
        <p:spPr>
          <a:xfrm>
            <a:off x="3396996" y="4114800"/>
            <a:ext cx="234086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B8F8A"/>
                </a:solidFill>
                <a:latin typeface="Bahnschrift"/>
                <a:cs typeface="Bahnschrift"/>
              </a:rPr>
              <a:t>0.9802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3396996" y="4617720"/>
            <a:ext cx="234086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F1 score (98.02%), from metadata.json</a:t>
            </a:r>
          </a:p>
        </p:txBody>
      </p:sp>
      <p:sp>
        <p:nvSpPr>
          <p:cNvPr id="128" name="Stat card 128"/>
          <p:cNvSpPr/>
          <p:nvPr/>
        </p:nvSpPr>
        <p:spPr>
          <a:xfrm>
            <a:off x="6053328" y="4069080"/>
            <a:ext cx="2560320" cy="109728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</p:sp>
      <p:sp>
        <p:nvSpPr>
          <p:cNvPr id="129" name="Text 129"/>
          <p:cNvSpPr txBox="1"/>
          <p:nvPr/>
        </p:nvSpPr>
        <p:spPr>
          <a:xfrm>
            <a:off x="6163056" y="4114800"/>
            <a:ext cx="234086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B8F8A"/>
                </a:solidFill>
                <a:latin typeface="Bahnschrift"/>
                <a:cs typeface="Bahnschrift"/>
              </a:rPr>
              <a:t>90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6163056" y="4617720"/>
            <a:ext cx="234086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Input features per flow</a:t>
            </a:r>
          </a:p>
        </p:txBody>
      </p:sp>
      <p:sp>
        <p:nvSpPr>
          <p:cNvPr id="131" name="Integrity note 131"/>
          <p:cNvSpPr/>
          <p:nvPr/>
        </p:nvSpPr>
        <p:spPr>
          <a:xfrm>
            <a:off x="521208" y="5321808"/>
            <a:ext cx="8092440" cy="841248"/>
          </a:xfrm>
          <a:prstGeom prst="roundRect">
            <a:avLst>
              <a:gd name="adj" fmla="val 12000"/>
            </a:avLst>
          </a:prstGeom>
          <a:solidFill>
            <a:srgbClr val="FFF0CC"/>
          </a:solidFill>
          <a:ln w="12700">
            <a:solidFill>
              <a:srgbClr val="D9A93A"/>
            </a:solidFill>
          </a:ln>
        </p:spPr>
        <p:txBody>
          <a:bodyPr wrap="square" lIns="137160" tIns="36576" rIns="137160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Academic integrity note: </a:t>
            </a: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raw training data (data/unsw_nb15.csv) is not bundled, so 0.9802 is historical metadata. Correctness is checked by the 17 tests.</a:t>
            </a:r>
          </a:p>
        </p:txBody>
      </p:sp>
    </p:spTree>
    <p:extLst>
      <p:ext uri="{BB962C8B-B14F-4D97-AF65-F5344CB8AC3E}">
        <p14:creationId xmlns:p14="http://schemas.microsoft.com/office/powerpoint/2010/main" val="121407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B6F581-D019-4446-9B09-873266454C32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ctr"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pPr>
            <a:r>
              <a:rPr sz="2800" b="1" dirty="0">
                <a:solidFill>
                  <a:srgbClr val="20375C"/>
                </a:solidFill>
                <a:latin typeface="Bahnschrift"/>
                <a:ea typeface="Bahnschrift"/>
                <a:cs typeface="Bahnschrift"/>
              </a:rPr>
              <a:t>Working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7B2C0-778B-420B-9AC8-791FED994D01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rPr>
              <a:t>Computer Networks Laboratory   CSE20110</a:t>
            </a:r>
          </a:p>
        </p:txBody>
      </p:sp>
      <p:sp>
        <p:nvSpPr>
          <p:cNvPr id="101" name="Heading 101"/>
          <p:cNvSpPr txBox="1"/>
          <p:nvPr/>
        </p:nvSpPr>
        <p:spPr>
          <a:xfrm>
            <a:off x="521208" y="1097280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20375C"/>
                </a:solidFill>
                <a:latin typeface="Bahnschrift"/>
                <a:cs typeface="Bahnschrift"/>
              </a:rPr>
              <a:t>Demonstration Procedure</a:t>
            </a:r>
          </a:p>
        </p:txBody>
      </p:sp>
      <p:sp>
        <p:nvSpPr>
          <p:cNvPr id="102" name="Badge 102"/>
          <p:cNvSpPr/>
          <p:nvPr/>
        </p:nvSpPr>
        <p:spPr>
          <a:xfrm>
            <a:off x="521208" y="1636776"/>
            <a:ext cx="347472" cy="347472"/>
          </a:xfrm>
          <a:prstGeom prst="ellipse">
            <a:avLst/>
          </a:prstGeom>
          <a:solidFill>
            <a:srgbClr val="1B8F8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Bahnschrift"/>
                <a:cs typeface="Bahnschrift"/>
              </a:rPr>
              <a:t>1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996696" y="150876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02020"/>
                </a:solidFill>
                <a:latin typeface="Bahnschrift"/>
                <a:cs typeface="Bahnschrift"/>
              </a:rPr>
              <a:t>Open localhost:5173; review the 6 panels</a:t>
            </a:r>
          </a:p>
        </p:txBody>
      </p:sp>
      <p:sp>
        <p:nvSpPr>
          <p:cNvPr id="104" name="Badge 104"/>
          <p:cNvSpPr/>
          <p:nvPr/>
        </p:nvSpPr>
        <p:spPr>
          <a:xfrm>
            <a:off x="521208" y="2368296"/>
            <a:ext cx="347472" cy="347472"/>
          </a:xfrm>
          <a:prstGeom prst="ellipse">
            <a:avLst/>
          </a:prstGeom>
          <a:solidFill>
            <a:srgbClr val="1B8F8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Bahnschrift"/>
                <a:cs typeface="Bahnschrift"/>
              </a:rPr>
              <a:t>2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996696" y="224028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02020"/>
                </a:solidFill>
                <a:latin typeface="Bahnschrift"/>
                <a:cs typeface="Bahnschrift"/>
              </a:rPr>
              <a:t>Switch to LIVE API MODE</a:t>
            </a:r>
          </a:p>
        </p:txBody>
      </p:sp>
      <p:sp>
        <p:nvSpPr>
          <p:cNvPr id="106" name="Badge 106"/>
          <p:cNvSpPr/>
          <p:nvPr/>
        </p:nvSpPr>
        <p:spPr>
          <a:xfrm>
            <a:off x="521208" y="3099816"/>
            <a:ext cx="347472" cy="347472"/>
          </a:xfrm>
          <a:prstGeom prst="ellipse">
            <a:avLst/>
          </a:prstGeom>
          <a:solidFill>
            <a:srgbClr val="1B8F8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Bahnschrift"/>
                <a:cs typeface="Bahnschrift"/>
              </a:rPr>
              <a:t>3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996696" y="297180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02020"/>
                </a:solidFill>
                <a:latin typeface="Bahnschrift"/>
                <a:cs typeface="Bahnschrift"/>
              </a:rPr>
              <a:t>Start Offline Replay: ATTACK red, NORMAL green</a:t>
            </a:r>
          </a:p>
        </p:txBody>
      </p:sp>
      <p:sp>
        <p:nvSpPr>
          <p:cNvPr id="108" name="Badge 108"/>
          <p:cNvSpPr/>
          <p:nvPr/>
        </p:nvSpPr>
        <p:spPr>
          <a:xfrm>
            <a:off x="521208" y="3831336"/>
            <a:ext cx="347472" cy="347472"/>
          </a:xfrm>
          <a:prstGeom prst="ellipse">
            <a:avLst/>
          </a:prstGeom>
          <a:solidFill>
            <a:srgbClr val="1B8F8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Bahnschrift"/>
                <a:cs typeface="Bahnschrift"/>
              </a:rPr>
              <a:t>4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996696" y="370332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02020"/>
                </a:solidFill>
                <a:latin typeface="Bahnschrift"/>
                <a:cs typeface="Bahnschrift"/>
              </a:rPr>
              <a:t>Click Simulate Fail on Backend-01: OFFLINE, audit logged</a:t>
            </a:r>
          </a:p>
        </p:txBody>
      </p:sp>
      <p:sp>
        <p:nvSpPr>
          <p:cNvPr id="110" name="Badge 110"/>
          <p:cNvSpPr/>
          <p:nvPr/>
        </p:nvSpPr>
        <p:spPr>
          <a:xfrm>
            <a:off x="521208" y="4562856"/>
            <a:ext cx="347472" cy="347472"/>
          </a:xfrm>
          <a:prstGeom prst="ellipse">
            <a:avLst/>
          </a:prstGeom>
          <a:solidFill>
            <a:srgbClr val="1B8F8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Bahnschrift"/>
                <a:cs typeface="Bahnschrift"/>
              </a:rPr>
              <a:t>5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996696" y="443484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02020"/>
                </a:solidFill>
                <a:latin typeface="Bahnschrift"/>
                <a:cs typeface="Bahnschrift"/>
              </a:rPr>
              <a:t>Browse the remaining dashboard panels</a:t>
            </a:r>
          </a:p>
        </p:txBody>
      </p:sp>
      <p:sp>
        <p:nvSpPr>
          <p:cNvPr id="112" name="Mock window 112"/>
          <p:cNvSpPr/>
          <p:nvPr/>
        </p:nvSpPr>
        <p:spPr>
          <a:xfrm>
            <a:off x="4526280" y="1143000"/>
            <a:ext cx="4087368" cy="402336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5B1"/>
            </a:solidFill>
          </a:ln>
        </p:spPr>
      </p:sp>
      <p:sp>
        <p:nvSpPr>
          <p:cNvPr id="113" name="Mock title bar 113"/>
          <p:cNvSpPr/>
          <p:nvPr/>
        </p:nvSpPr>
        <p:spPr>
          <a:xfrm>
            <a:off x="4526280" y="1143000"/>
            <a:ext cx="4087368" cy="329184"/>
          </a:xfrm>
          <a:prstGeom prst="rect">
            <a:avLst/>
          </a:prstGeom>
          <a:solidFill>
            <a:srgbClr val="DCEAF7"/>
          </a:solidFill>
          <a:ln w="15875">
            <a:solidFill>
              <a:srgbClr val="9AA5B1"/>
            </a:solidFill>
          </a:ln>
        </p:spPr>
        <p:txBody>
          <a:bodyPr wrap="square" lIns="137160" tIns="0" rIns="9144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FlowGuard Dashboard</a:t>
            </a:r>
          </a:p>
        </p:txBody>
      </p:sp>
      <p:sp>
        <p:nvSpPr>
          <p:cNvPr id="114" name="Mode 114"/>
          <p:cNvSpPr/>
          <p:nvPr/>
        </p:nvSpPr>
        <p:spPr>
          <a:xfrm>
            <a:off x="4663440" y="1600200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FF0CC"/>
          </a:solidFill>
          <a:ln w="12700">
            <a:solidFill>
              <a:srgbClr val="D9A93A"/>
            </a:solidFill>
          </a:ln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DEMO SIMULATION</a:t>
            </a:r>
          </a:p>
        </p:txBody>
      </p:sp>
      <p:cxnSp>
        <p:nvCxnSpPr>
          <p:cNvPr id="115" name="Connector 115"/>
          <p:cNvCxnSpPr/>
          <p:nvPr/>
        </p:nvCxnSpPr>
        <p:spPr>
          <a:xfrm>
            <a:off x="6400800" y="1737360"/>
            <a:ext cx="365760" cy="0"/>
          </a:xfrm>
          <a:prstGeom prst="straightConnector1">
            <a:avLst/>
          </a:prstGeom>
          <a:ln w="25400">
            <a:solidFill>
              <a:srgbClr val="1B8F8A"/>
            </a:solidFill>
            <a:tailEnd type="triangle" w="med" len="med"/>
          </a:ln>
        </p:spPr>
      </p:cxnSp>
      <p:sp>
        <p:nvSpPr>
          <p:cNvPr id="116" name="Mode 116"/>
          <p:cNvSpPr/>
          <p:nvPr/>
        </p:nvSpPr>
        <p:spPr>
          <a:xfrm>
            <a:off x="6812280" y="16002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DDF1DF"/>
          </a:solidFill>
          <a:ln w="12700">
            <a:solidFill>
              <a:srgbClr val="6FB37A"/>
            </a:solidFill>
          </a:ln>
        </p:spPr>
        <p:txBody>
          <a:bodyPr wrap="square" lIns="18288" tIns="0" rIns="18288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LIVE API MODE</a:t>
            </a:r>
          </a:p>
        </p:txBody>
      </p:sp>
      <p:sp>
        <p:nvSpPr>
          <p:cNvPr id="117" name="Panel tile 117"/>
          <p:cNvSpPr/>
          <p:nvPr/>
        </p:nvSpPr>
        <p:spPr>
          <a:xfrm>
            <a:off x="4663440" y="2029968"/>
            <a:ext cx="1216152" cy="68580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  <p:txBody>
          <a:bodyPr wrap="square" lIns="36576" tIns="18288" rIns="36576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Traffic Distribution</a:t>
            </a:r>
          </a:p>
        </p:txBody>
      </p:sp>
      <p:sp>
        <p:nvSpPr>
          <p:cNvPr id="118" name="Panel tile 118"/>
          <p:cNvSpPr/>
          <p:nvPr/>
        </p:nvSpPr>
        <p:spPr>
          <a:xfrm>
            <a:off x="5971032" y="2029968"/>
            <a:ext cx="1216152" cy="68580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  <p:txBody>
          <a:bodyPr wrap="square" lIns="36576" tIns="18288" rIns="36576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Backend Health</a:t>
            </a:r>
          </a:p>
        </p:txBody>
      </p:sp>
      <p:sp>
        <p:nvSpPr>
          <p:cNvPr id="119" name="Panel tile 119"/>
          <p:cNvSpPr/>
          <p:nvPr/>
        </p:nvSpPr>
        <p:spPr>
          <a:xfrm>
            <a:off x="7278624" y="2029968"/>
            <a:ext cx="1216152" cy="68580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  <p:txBody>
          <a:bodyPr wrap="square" lIns="36576" tIns="18288" rIns="36576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Network Topology</a:t>
            </a:r>
          </a:p>
        </p:txBody>
      </p:sp>
      <p:sp>
        <p:nvSpPr>
          <p:cNvPr id="120" name="Panel tile 120"/>
          <p:cNvSpPr/>
          <p:nvPr/>
        </p:nvSpPr>
        <p:spPr>
          <a:xfrm>
            <a:off x="4663440" y="2807208"/>
            <a:ext cx="1216152" cy="68580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  <p:txBody>
          <a:bodyPr wrap="square" lIns="36576" tIns="18288" rIns="36576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Cache Performance</a:t>
            </a:r>
          </a:p>
        </p:txBody>
      </p:sp>
      <p:sp>
        <p:nvSpPr>
          <p:cNvPr id="121" name="Panel tile 121"/>
          <p:cNvSpPr/>
          <p:nvPr/>
        </p:nvSpPr>
        <p:spPr>
          <a:xfrm>
            <a:off x="5971032" y="2807208"/>
            <a:ext cx="1216152" cy="685800"/>
          </a:xfrm>
          <a:prstGeom prst="roundRect">
            <a:avLst>
              <a:gd name="adj" fmla="val 12000"/>
            </a:avLst>
          </a:prstGeom>
          <a:solidFill>
            <a:srgbClr val="FBDAD7"/>
          </a:solidFill>
          <a:ln w="12700">
            <a:solidFill>
              <a:srgbClr val="D9726A"/>
            </a:solidFill>
          </a:ln>
        </p:spPr>
        <p:txBody>
          <a:bodyPr wrap="square" lIns="36576" tIns="18288" rIns="36576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Anomaly &amp; Security Feed</a:t>
            </a:r>
          </a:p>
        </p:txBody>
      </p:sp>
      <p:sp>
        <p:nvSpPr>
          <p:cNvPr id="122" name="Panel tile 122"/>
          <p:cNvSpPr/>
          <p:nvPr/>
        </p:nvSpPr>
        <p:spPr>
          <a:xfrm>
            <a:off x="7278624" y="2807208"/>
            <a:ext cx="1216152" cy="685800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  <p:txBody>
          <a:bodyPr wrap="square" lIns="36576" tIns="18288" rIns="36576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Proxy Links</a:t>
            </a:r>
          </a:p>
        </p:txBody>
      </p:sp>
      <p:sp>
        <p:nvSpPr>
          <p:cNvPr id="123" name="Feed row 123"/>
          <p:cNvSpPr/>
          <p:nvPr/>
        </p:nvSpPr>
        <p:spPr>
          <a:xfrm>
            <a:off x="4663440" y="3703320"/>
            <a:ext cx="3813048" cy="365760"/>
          </a:xfrm>
          <a:prstGeom prst="roundRect">
            <a:avLst>
              <a:gd name="adj" fmla="val 12000"/>
            </a:avLst>
          </a:prstGeom>
          <a:solidFill>
            <a:srgbClr val="FBDAD7"/>
          </a:solidFill>
          <a:ln w="12700">
            <a:solidFill>
              <a:srgbClr val="D9726A"/>
            </a:solidFill>
          </a:ln>
        </p:spPr>
        <p:txBody>
          <a:bodyPr wrap="square" lIns="137160" tIns="0" rIns="9144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ATTACK  ·  Risk 0.94+</a:t>
            </a:r>
          </a:p>
        </p:txBody>
      </p:sp>
      <p:sp>
        <p:nvSpPr>
          <p:cNvPr id="124" name="Feed row 124"/>
          <p:cNvSpPr/>
          <p:nvPr/>
        </p:nvSpPr>
        <p:spPr>
          <a:xfrm>
            <a:off x="4663440" y="4160520"/>
            <a:ext cx="3813048" cy="365760"/>
          </a:xfrm>
          <a:prstGeom prst="roundRect">
            <a:avLst>
              <a:gd name="adj" fmla="val 12000"/>
            </a:avLst>
          </a:prstGeom>
          <a:solidFill>
            <a:srgbClr val="DDF1DF"/>
          </a:solidFill>
          <a:ln w="12700">
            <a:solidFill>
              <a:srgbClr val="6FB37A"/>
            </a:solidFill>
          </a:ln>
        </p:spPr>
        <p:txBody>
          <a:bodyPr wrap="square" lIns="137160" tIns="0" rIns="9144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NORMAL  ·  PASS</a:t>
            </a:r>
          </a:p>
        </p:txBody>
      </p:sp>
      <p:sp>
        <p:nvSpPr>
          <p:cNvPr id="125" name="Feed row 125"/>
          <p:cNvSpPr/>
          <p:nvPr/>
        </p:nvSpPr>
        <p:spPr>
          <a:xfrm>
            <a:off x="4663440" y="4617720"/>
            <a:ext cx="3813048" cy="365760"/>
          </a:xfrm>
          <a:prstGeom prst="roundRect">
            <a:avLst>
              <a:gd name="adj" fmla="val 12000"/>
            </a:avLst>
          </a:prstGeom>
          <a:solidFill>
            <a:srgbClr val="FFF0CC"/>
          </a:solidFill>
          <a:ln w="12700">
            <a:solidFill>
              <a:srgbClr val="D9A93A"/>
            </a:solidFill>
          </a:ln>
        </p:spPr>
        <p:txBody>
          <a:bodyPr wrap="square" lIns="137160" tIns="0" rIns="9144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Backend-01  ·  OFFLINE</a:t>
            </a:r>
          </a:p>
        </p:txBody>
      </p:sp>
      <p:sp>
        <p:nvSpPr>
          <p:cNvPr id="127" name="Expected result 127"/>
          <p:cNvSpPr/>
          <p:nvPr/>
        </p:nvSpPr>
        <p:spPr>
          <a:xfrm>
            <a:off x="521208" y="5577840"/>
            <a:ext cx="8092440" cy="621792"/>
          </a:xfrm>
          <a:prstGeom prst="roundRect">
            <a:avLst>
              <a:gd name="adj" fmla="val 12000"/>
            </a:avLst>
          </a:prstGeom>
          <a:solidFill>
            <a:srgbClr val="DDF1DF"/>
          </a:solidFill>
          <a:ln w="12700">
            <a:solidFill>
              <a:srgbClr val="6FB37A"/>
            </a:solidFill>
          </a:ln>
        </p:spPr>
        <p:txBody>
          <a:bodyPr wrap="square" lIns="137160" tIns="36576" rIns="137160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Expected result: </a:t>
            </a: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attacks show red (risk 0.94+), normal shows green PASS, and fault injection shows degraded capacity.</a:t>
            </a:r>
          </a:p>
        </p:txBody>
      </p:sp>
    </p:spTree>
    <p:extLst>
      <p:ext uri="{BB962C8B-B14F-4D97-AF65-F5344CB8AC3E}">
        <p14:creationId xmlns:p14="http://schemas.microsoft.com/office/powerpoint/2010/main" val="123285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465B80-86A3-4988-8BBF-D6C889F03087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ctr"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pPr>
            <a:r>
              <a:rPr sz="2800" b="1" dirty="0">
                <a:solidFill>
                  <a:srgbClr val="20375C"/>
                </a:solidFill>
                <a:latin typeface="Bahnschrift"/>
                <a:ea typeface="Bahnschrift"/>
                <a:cs typeface="Bahnschrift"/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5C3C1D-1A36-4479-B48D-72AED4C5126A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rPr>
              <a:t>Computer Networks Laboratory   CSE20110</a:t>
            </a:r>
          </a:p>
        </p:txBody>
      </p:sp>
      <p:sp>
        <p:nvSpPr>
          <p:cNvPr id="101" name="Card 101"/>
          <p:cNvSpPr/>
          <p:nvPr/>
        </p:nvSpPr>
        <p:spPr>
          <a:xfrm>
            <a:off x="521208" y="1371600"/>
            <a:ext cx="256032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FA8D1"/>
            </a:solidFill>
          </a:ln>
        </p:spPr>
      </p:sp>
      <p:sp>
        <p:nvSpPr>
          <p:cNvPr id="102" name="Card header 102"/>
          <p:cNvSpPr/>
          <p:nvPr/>
        </p:nvSpPr>
        <p:spPr>
          <a:xfrm>
            <a:off x="521208" y="1371600"/>
            <a:ext cx="2560320" cy="384048"/>
          </a:xfrm>
          <a:prstGeom prst="roundRect">
            <a:avLst>
              <a:gd name="adj" fmla="val 12000"/>
            </a:avLst>
          </a:prstGeom>
          <a:solidFill>
            <a:srgbClr val="DCEAF7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20375C"/>
                </a:solidFill>
                <a:latin typeface="Bahnschrift"/>
                <a:cs typeface="Bahnschrift"/>
              </a:rPr>
              <a:t>Key Achievements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658368" y="1965960"/>
            <a:ext cx="2286000" cy="2834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82880" indent="-182880" algn="l">
              <a:spcBef>
                <a:spcPts val="0"/>
              </a:spcBef>
              <a:spcAft>
                <a:spcPts val="1000"/>
              </a:spcAft>
              <a:buClr>
                <a:srgbClr val="1B8F8A"/>
              </a:buClr>
              <a:buFont typeface="Bahnschrift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End-to-end pipeline, flow to dashboard</a:t>
            </a:r>
          </a:p>
          <a:p>
            <a:pPr marL="182880" indent="-182880" algn="l">
              <a:spcBef>
                <a:spcPts val="0"/>
              </a:spcBef>
              <a:spcAft>
                <a:spcPts val="1000"/>
              </a:spcAft>
              <a:buClr>
                <a:srgbClr val="1B8F8A"/>
              </a:buClr>
              <a:buFont typeface="Bahnschrift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Simulated, live and replay sources kept separate</a:t>
            </a:r>
          </a:p>
          <a:p>
            <a:pPr marL="182880" indent="-182880" algn="l">
              <a:spcBef>
                <a:spcPts val="0"/>
              </a:spcBef>
              <a:spcAft>
                <a:spcPts val="1000"/>
              </a:spcAft>
              <a:buClr>
                <a:srgbClr val="1B8F8A"/>
              </a:buClr>
              <a:buFont typeface="Bahnschrift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90-feature encoding with imputation</a:t>
            </a:r>
          </a:p>
          <a:p>
            <a:pPr marL="182880" indent="-182880" algn="l">
              <a:spcBef>
                <a:spcPts val="0"/>
              </a:spcBef>
              <a:spcAft>
                <a:spcPts val="1000"/>
              </a:spcAft>
              <a:buClr>
                <a:srgbClr val="1B8F8A"/>
              </a:buClr>
              <a:buFont typeface="Bahnschrift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Fault simulation and health monitoring</a:t>
            </a:r>
          </a:p>
        </p:txBody>
      </p:sp>
      <p:sp>
        <p:nvSpPr>
          <p:cNvPr id="104" name="Card 104"/>
          <p:cNvSpPr/>
          <p:nvPr/>
        </p:nvSpPr>
        <p:spPr>
          <a:xfrm>
            <a:off x="3287268" y="1371600"/>
            <a:ext cx="256032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A93A"/>
            </a:solidFill>
          </a:ln>
        </p:spPr>
      </p:sp>
      <p:sp>
        <p:nvSpPr>
          <p:cNvPr id="105" name="Card header 105"/>
          <p:cNvSpPr/>
          <p:nvPr/>
        </p:nvSpPr>
        <p:spPr>
          <a:xfrm>
            <a:off x="3287268" y="1371600"/>
            <a:ext cx="2560320" cy="384048"/>
          </a:xfrm>
          <a:prstGeom prst="roundRect">
            <a:avLst>
              <a:gd name="adj" fmla="val 12000"/>
            </a:avLst>
          </a:prstGeom>
          <a:solidFill>
            <a:srgbClr val="FFF0CC"/>
          </a:solidFill>
          <a:ln w="12700">
            <a:solidFill>
              <a:srgbClr val="D9A93A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20375C"/>
                </a:solidFill>
                <a:latin typeface="Bahnschrift"/>
                <a:cs typeface="Bahnschrift"/>
              </a:rPr>
              <a:t>Current Limitations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3424428" y="1965960"/>
            <a:ext cx="2286000" cy="2834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82880" indent="-182880" algn="l">
              <a:spcBef>
                <a:spcPts val="0"/>
              </a:spcBef>
              <a:spcAft>
                <a:spcPts val="1000"/>
              </a:spcAft>
              <a:buClr>
                <a:srgbClr val="1B8F8A"/>
              </a:buClr>
              <a:buFont typeface="Bahnschrift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Raw dataset not bundled; F1 is historical</a:t>
            </a:r>
          </a:p>
          <a:p>
            <a:pPr marL="182880" indent="-182880" algn="l">
              <a:spcBef>
                <a:spcPts val="0"/>
              </a:spcBef>
              <a:spcAft>
                <a:spcPts val="1000"/>
              </a:spcAft>
              <a:buClr>
                <a:srgbClr val="1B8F8A"/>
              </a:buClr>
              <a:buFont typeface="Bahnschrift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Windows demo uses replay; Mininet needs Linux</a:t>
            </a:r>
          </a:p>
          <a:p>
            <a:pPr marL="182880" indent="-182880" algn="l">
              <a:spcBef>
                <a:spcPts val="0"/>
              </a:spcBef>
              <a:spcAft>
                <a:spcPts val="1000"/>
              </a:spcAft>
              <a:buClr>
                <a:srgbClr val="1B8F8A"/>
              </a:buClr>
              <a:buFont typeface="Bahnschrift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No live traffic monitoring in the demo</a:t>
            </a:r>
          </a:p>
        </p:txBody>
      </p:sp>
      <p:sp>
        <p:nvSpPr>
          <p:cNvPr id="107" name="Card 107"/>
          <p:cNvSpPr/>
          <p:nvPr/>
        </p:nvSpPr>
        <p:spPr>
          <a:xfrm>
            <a:off x="6053328" y="1371600"/>
            <a:ext cx="256032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FB37A"/>
            </a:solidFill>
          </a:ln>
        </p:spPr>
      </p:sp>
      <p:sp>
        <p:nvSpPr>
          <p:cNvPr id="108" name="Card header 108"/>
          <p:cNvSpPr/>
          <p:nvPr/>
        </p:nvSpPr>
        <p:spPr>
          <a:xfrm>
            <a:off x="6053328" y="1371600"/>
            <a:ext cx="2560320" cy="384048"/>
          </a:xfrm>
          <a:prstGeom prst="roundRect">
            <a:avLst>
              <a:gd name="adj" fmla="val 12000"/>
            </a:avLst>
          </a:prstGeom>
          <a:solidFill>
            <a:srgbClr val="DDF1DF"/>
          </a:solidFill>
          <a:ln w="12700">
            <a:solidFill>
              <a:srgbClr val="6FB37A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20375C"/>
                </a:solidFill>
                <a:latin typeface="Bahnschrift"/>
                <a:cs typeface="Bahnschrift"/>
              </a:rPr>
              <a:t>Future Scope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6190488" y="1965960"/>
            <a:ext cx="2286000" cy="2834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82880" indent="-182880" algn="l">
              <a:spcBef>
                <a:spcPts val="0"/>
              </a:spcBef>
              <a:spcAft>
                <a:spcPts val="1000"/>
              </a:spcAft>
              <a:buClr>
                <a:srgbClr val="1B8F8A"/>
              </a:buClr>
              <a:buFont typeface="Bahnschrift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eBPF / XDP line-rate capture</a:t>
            </a:r>
          </a:p>
          <a:p>
            <a:pPr marL="182880" indent="-182880" algn="l">
              <a:spcBef>
                <a:spcPts val="0"/>
              </a:spcBef>
              <a:spcAft>
                <a:spcPts val="1000"/>
              </a:spcAft>
              <a:buClr>
                <a:srgbClr val="1B8F8A"/>
              </a:buClr>
              <a:buFont typeface="Bahnschrift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Multi-class threats: DDoS, Exploits, Recon</a:t>
            </a:r>
          </a:p>
          <a:p>
            <a:pPr marL="182880" indent="-182880" algn="l">
              <a:spcBef>
                <a:spcPts val="0"/>
              </a:spcBef>
              <a:spcAft>
                <a:spcPts val="1000"/>
              </a:spcAft>
              <a:buClr>
                <a:srgbClr val="1B8F8A"/>
              </a:buClr>
              <a:buFont typeface="Bahnschrift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OpenFlow rules to block attack sources</a:t>
            </a:r>
          </a:p>
          <a:p>
            <a:pPr marL="182880" indent="-182880" algn="l">
              <a:spcBef>
                <a:spcPts val="0"/>
              </a:spcBef>
              <a:spcAft>
                <a:spcPts val="1000"/>
              </a:spcAft>
              <a:buClr>
                <a:srgbClr val="1B8F8A"/>
              </a:buClr>
              <a:buFont typeface="Bahnschrift"/>
              <a:buChar char="•"/>
            </a:pP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OpenTelemetry tracing</a:t>
            </a:r>
          </a:p>
        </p:txBody>
      </p:sp>
    </p:spTree>
    <p:extLst>
      <p:ext uri="{BB962C8B-B14F-4D97-AF65-F5344CB8AC3E}">
        <p14:creationId xmlns:p14="http://schemas.microsoft.com/office/powerpoint/2010/main" val="2125721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465B80-86A3-4988-8BBF-D6C889F03087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ctr"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pPr>
            <a:r>
              <a:rPr sz="2800" b="1" dirty="0">
                <a:solidFill>
                  <a:srgbClr val="20375C"/>
                </a:solidFill>
                <a:latin typeface="Bahnschrift"/>
                <a:ea typeface="Bahnschrift"/>
                <a:cs typeface="Bahnschrift"/>
              </a:rPr>
              <a:t>Team Contributions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5C3C1D-1A36-4479-B48D-72AED4C5126A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rPr>
              <a:t>Computer Networks Laboratory   CSE20110</a:t>
            </a:r>
          </a:p>
        </p:txBody>
      </p:sp>
      <p:sp>
        <p:nvSpPr>
          <p:cNvPr id="111" name="Contribution 111"/>
          <p:cNvSpPr/>
          <p:nvPr/>
        </p:nvSpPr>
        <p:spPr>
          <a:xfrm>
            <a:off x="521207" y="1645920"/>
            <a:ext cx="3977639" cy="118872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rgbClr val="202020"/>
              </a:solidFill>
              <a:cs typeface="Bahnschrif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rgbClr val="202020"/>
              </a:solidFill>
              <a:cs typeface="Bahnschrif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02020"/>
                </a:solidFill>
                <a:cs typeface="Bahnschrift"/>
              </a:rPr>
              <a:t>Aviraj Sinha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202020"/>
                </a:solidFill>
                <a:cs typeface="Bahnschrift"/>
              </a:rPr>
              <a:t>User Interface Design and Frontend</a:t>
            </a:r>
            <a:br>
              <a:rPr lang="en-US" sz="1600" dirty="0">
                <a:solidFill>
                  <a:srgbClr val="202020"/>
                </a:solidFill>
                <a:cs typeface="Bahnschrift"/>
              </a:rPr>
            </a:br>
            <a:br>
              <a:rPr lang="en-US" sz="1600" dirty="0">
                <a:solidFill>
                  <a:srgbClr val="202020"/>
                </a:solidFill>
                <a:cs typeface="Bahnschrift"/>
              </a:rPr>
            </a:br>
            <a:endParaRPr lang="en-US" sz="1600" dirty="0">
              <a:solidFill>
                <a:srgbClr val="202020"/>
              </a:solidFill>
              <a:cs typeface="Bahnschrift"/>
            </a:endParaRPr>
          </a:p>
        </p:txBody>
      </p:sp>
      <p:sp>
        <p:nvSpPr>
          <p:cNvPr id="112" name="Contribution 112"/>
          <p:cNvSpPr/>
          <p:nvPr/>
        </p:nvSpPr>
        <p:spPr>
          <a:xfrm>
            <a:off x="4636008" y="1645920"/>
            <a:ext cx="3977639" cy="118872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02020"/>
                </a:solidFill>
                <a:cs typeface="Bahnschrift"/>
              </a:rPr>
              <a:t>Palash Ranka</a:t>
            </a:r>
          </a:p>
          <a:p>
            <a:pPr algn="ctr"/>
            <a:r>
              <a:rPr lang="en-IN" sz="1600" dirty="0"/>
              <a:t>Database and Full-System Integration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1300" b="0" i="0" dirty="0">
              <a:solidFill>
                <a:srgbClr val="202020"/>
              </a:solidFill>
              <a:latin typeface="Bahnschrift"/>
              <a:cs typeface="Bahnschrift"/>
            </a:endParaRPr>
          </a:p>
        </p:txBody>
      </p:sp>
      <p:sp>
        <p:nvSpPr>
          <p:cNvPr id="113" name="Contribution 113"/>
          <p:cNvSpPr/>
          <p:nvPr/>
        </p:nvSpPr>
        <p:spPr>
          <a:xfrm>
            <a:off x="521207" y="3200400"/>
            <a:ext cx="3977639" cy="118872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i="0" dirty="0">
                <a:solidFill>
                  <a:srgbClr val="202020"/>
                </a:solidFill>
                <a:latin typeface="Bahnschrift"/>
                <a:cs typeface="Bahnschrift"/>
              </a:rPr>
              <a:t>Kalp Lad </a:t>
            </a:r>
            <a:br>
              <a:rPr lang="en-US" sz="1600" i="0" dirty="0">
                <a:solidFill>
                  <a:srgbClr val="202020"/>
                </a:solidFill>
                <a:latin typeface="Bahnschrift"/>
                <a:cs typeface="Bahnschrift"/>
              </a:rPr>
            </a:br>
            <a:r>
              <a:rPr lang="en-IN" sz="1600" dirty="0"/>
              <a:t>Machine-Learning Pipeline and Flow Classification</a:t>
            </a:r>
            <a:br>
              <a:rPr lang="en-US" sz="1300" dirty="0">
                <a:solidFill>
                  <a:srgbClr val="202020"/>
                </a:solidFill>
                <a:latin typeface="Bahnschrift"/>
                <a:cs typeface="Bahnschrift"/>
              </a:rPr>
            </a:br>
            <a:endParaRPr lang="en-US" sz="1300" i="0" dirty="0">
              <a:solidFill>
                <a:srgbClr val="202020"/>
              </a:solidFill>
              <a:latin typeface="Bahnschrift"/>
              <a:cs typeface="Bahnschrift"/>
            </a:endParaRPr>
          </a:p>
        </p:txBody>
      </p:sp>
      <p:sp>
        <p:nvSpPr>
          <p:cNvPr id="6" name="Contribution 113">
            <a:extLst>
              <a:ext uri="{FF2B5EF4-FFF2-40B4-BE49-F238E27FC236}">
                <a16:creationId xmlns:a16="http://schemas.microsoft.com/office/drawing/2014/main" id="{F7760625-4CEF-F9CC-AB5F-621B727A9959}"/>
              </a:ext>
            </a:extLst>
          </p:cNvPr>
          <p:cNvSpPr/>
          <p:nvPr/>
        </p:nvSpPr>
        <p:spPr>
          <a:xfrm>
            <a:off x="4645156" y="3200400"/>
            <a:ext cx="3977639" cy="118872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  <p:txBody>
          <a:bodyPr wrap="square" lIns="54864" tIns="27432" rIns="54864" bIns="27432" anchor="ctr">
            <a:noAutofit/>
          </a:bodyPr>
          <a:lstStyle/>
          <a:p>
            <a:pPr algn="ctr"/>
            <a:r>
              <a:rPr lang="en-IN" sz="1600" dirty="0"/>
              <a:t>Aaradhya </a:t>
            </a:r>
            <a:r>
              <a:rPr lang="en-IN" sz="1600" dirty="0" err="1"/>
              <a:t>Banginwar</a:t>
            </a:r>
            <a:endParaRPr lang="en-IN" sz="1600"/>
          </a:p>
          <a:p>
            <a:pPr algn="ctr"/>
            <a:r>
              <a:rPr lang="en-IN" sz="1600"/>
              <a:t>Backend </a:t>
            </a:r>
            <a:r>
              <a:rPr lang="en-IN" sz="1600" dirty="0"/>
              <a:t>API and Real-Time Event Processing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02020"/>
                </a:solidFill>
                <a:latin typeface="Bahnschrift"/>
                <a:cs typeface="Bahnschrift"/>
              </a:rPr>
              <a:t> </a:t>
            </a:r>
            <a:endParaRPr lang="en-US" sz="1300" i="0" dirty="0">
              <a:solidFill>
                <a:srgbClr val="202020"/>
              </a:solidFill>
              <a:latin typeface="Bahnschrift"/>
              <a:cs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2125721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87E46F-E649-4EC2-BE15-E3DC1B512D09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ctr">
              <a:def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defRPr>
            </a:pPr>
            <a:r>
              <a:rPr sz="2800" b="1">
                <a:solidFill>
                  <a:srgbClr val="20375C"/>
                </a:solidFill>
                <a:latin typeface="Bahnschrift"/>
                <a:ea typeface="Bahnschrift"/>
                <a:cs typeface="Bahnschrift"/>
              </a:rPr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BC680-DAE1-4C4A-B29D-BFCE9D74EB15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555555"/>
                </a:solidFill>
                <a:latin typeface="Bahnschrift"/>
                <a:ea typeface="Bahnschrift"/>
                <a:cs typeface="Bahnschrift"/>
              </a:rPr>
              <a:t>Computer Networks Laboratory   CSE20110</a:t>
            </a:r>
          </a:p>
        </p:txBody>
      </p:sp>
      <p:sp>
        <p:nvSpPr>
          <p:cNvPr id="101" name="Reference row 101"/>
          <p:cNvSpPr/>
          <p:nvPr/>
        </p:nvSpPr>
        <p:spPr>
          <a:xfrm>
            <a:off x="521208" y="1371600"/>
            <a:ext cx="8092440" cy="82296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</p:sp>
      <p:sp>
        <p:nvSpPr>
          <p:cNvPr id="102" name="Badge 102"/>
          <p:cNvSpPr/>
          <p:nvPr/>
        </p:nvSpPr>
        <p:spPr>
          <a:xfrm>
            <a:off x="612648" y="1645920"/>
            <a:ext cx="274320" cy="274320"/>
          </a:xfrm>
          <a:prstGeom prst="ellipse">
            <a:avLst/>
          </a:prstGeom>
          <a:solidFill>
            <a:srgbClr val="1B8F8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Bahnschrift"/>
                <a:cs typeface="Bahnschrift"/>
              </a:rPr>
              <a:t>1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1024128" y="1371600"/>
            <a:ext cx="7452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Moustafa, N., &amp; Slay, J. (2015). </a:t>
            </a:r>
            <a:r>
              <a:rPr lang="en-US" sz="1300" b="0" i="1" dirty="0">
                <a:solidFill>
                  <a:srgbClr val="202020"/>
                </a:solidFill>
                <a:latin typeface="Bahnschrift"/>
                <a:cs typeface="Bahnschrift"/>
              </a:rPr>
              <a:t>UNSW-NB15: A Comprehensive Data Set for Network Intrusion Detection Systems. </a:t>
            </a: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IEEE MilCIS, pp. 1–6.</a:t>
            </a:r>
          </a:p>
        </p:txBody>
      </p:sp>
      <p:sp>
        <p:nvSpPr>
          <p:cNvPr id="104" name="Reference row 104"/>
          <p:cNvSpPr/>
          <p:nvPr/>
        </p:nvSpPr>
        <p:spPr>
          <a:xfrm>
            <a:off x="521208" y="2423160"/>
            <a:ext cx="8092440" cy="82296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</p:sp>
      <p:sp>
        <p:nvSpPr>
          <p:cNvPr id="105" name="Badge 105"/>
          <p:cNvSpPr/>
          <p:nvPr/>
        </p:nvSpPr>
        <p:spPr>
          <a:xfrm>
            <a:off x="612648" y="2697479"/>
            <a:ext cx="274320" cy="274320"/>
          </a:xfrm>
          <a:prstGeom prst="ellipse">
            <a:avLst/>
          </a:prstGeom>
          <a:solidFill>
            <a:srgbClr val="1B8F8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Bahnschrift"/>
                <a:cs typeface="Bahnschrift"/>
              </a:rPr>
              <a:t>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1024128" y="2423160"/>
            <a:ext cx="7452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Sarhan, M., Layeghy, S., &amp; Portmann, M. (2020). </a:t>
            </a:r>
            <a:r>
              <a:rPr lang="en-US" sz="1300" b="0" i="1" dirty="0">
                <a:solidFill>
                  <a:srgbClr val="202020"/>
                </a:solidFill>
                <a:latin typeface="Bahnschrift"/>
                <a:cs typeface="Bahnschrift"/>
              </a:rPr>
              <a:t>Towards a Standard Feature Set for Network Intrusion Detection System Datasets. </a:t>
            </a: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Mobile Networks and Applications, pp. 1–14.</a:t>
            </a:r>
          </a:p>
        </p:txBody>
      </p:sp>
      <p:sp>
        <p:nvSpPr>
          <p:cNvPr id="107" name="Reference row 107"/>
          <p:cNvSpPr/>
          <p:nvPr/>
        </p:nvSpPr>
        <p:spPr>
          <a:xfrm>
            <a:off x="521208" y="3474720"/>
            <a:ext cx="8092440" cy="82296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</p:sp>
      <p:sp>
        <p:nvSpPr>
          <p:cNvPr id="108" name="Badge 108"/>
          <p:cNvSpPr/>
          <p:nvPr/>
        </p:nvSpPr>
        <p:spPr>
          <a:xfrm>
            <a:off x="612648" y="3749039"/>
            <a:ext cx="274320" cy="274320"/>
          </a:xfrm>
          <a:prstGeom prst="ellipse">
            <a:avLst/>
          </a:prstGeom>
          <a:solidFill>
            <a:srgbClr val="1B8F8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Bahnschrift"/>
                <a:cs typeface="Bahnschrift"/>
              </a:rPr>
              <a:t>3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1024128" y="3474720"/>
            <a:ext cx="7452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Lantz, B., Heller, B., &amp; McKeown, N. (2010). </a:t>
            </a:r>
            <a:r>
              <a:rPr lang="en-US" sz="1300" b="0" i="1" dirty="0">
                <a:solidFill>
                  <a:srgbClr val="202020"/>
                </a:solidFill>
                <a:latin typeface="Bahnschrift"/>
                <a:cs typeface="Bahnschrift"/>
              </a:rPr>
              <a:t>A Network in a Laptop: Rapid Prototyping for Software-Defined Networks (Mininet). </a:t>
            </a: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ACM SIGCOMM HotNets.</a:t>
            </a:r>
          </a:p>
        </p:txBody>
      </p:sp>
      <p:sp>
        <p:nvSpPr>
          <p:cNvPr id="110" name="Reference row 110"/>
          <p:cNvSpPr/>
          <p:nvPr/>
        </p:nvSpPr>
        <p:spPr>
          <a:xfrm>
            <a:off x="521208" y="4526279"/>
            <a:ext cx="8092440" cy="82296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7FA8D1"/>
            </a:solidFill>
          </a:ln>
        </p:spPr>
      </p:sp>
      <p:sp>
        <p:nvSpPr>
          <p:cNvPr id="111" name="Badge 111"/>
          <p:cNvSpPr/>
          <p:nvPr/>
        </p:nvSpPr>
        <p:spPr>
          <a:xfrm>
            <a:off x="612648" y="4800599"/>
            <a:ext cx="274320" cy="274320"/>
          </a:xfrm>
          <a:prstGeom prst="ellipse">
            <a:avLst/>
          </a:prstGeom>
          <a:solidFill>
            <a:srgbClr val="1B8F8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Bahnschrift"/>
                <a:cs typeface="Bahnschrift"/>
              </a:rPr>
              <a:t>4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1024128" y="4526279"/>
            <a:ext cx="7452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0375C"/>
                </a:solidFill>
                <a:latin typeface="Bahnschrift"/>
                <a:cs typeface="Bahnschrift"/>
              </a:rPr>
              <a:t>Pedregosa, F. et al. (2011). </a:t>
            </a:r>
            <a:r>
              <a:rPr lang="en-US" sz="1300" b="0" i="1" dirty="0">
                <a:solidFill>
                  <a:srgbClr val="202020"/>
                </a:solidFill>
                <a:latin typeface="Bahnschrift"/>
                <a:cs typeface="Bahnschrift"/>
              </a:rPr>
              <a:t>Scikit-learn: Machine Learning in Python. </a:t>
            </a:r>
            <a:r>
              <a:rPr lang="en-US" sz="1300" b="0" i="0" dirty="0">
                <a:solidFill>
                  <a:srgbClr val="202020"/>
                </a:solidFill>
                <a:latin typeface="Bahnschrift"/>
                <a:cs typeface="Bahnschrift"/>
              </a:rPr>
              <a:t>Journal of Machine Learning Research, 12, pp. 2825–2830.</a:t>
            </a:r>
          </a:p>
        </p:txBody>
      </p:sp>
    </p:spTree>
    <p:extLst>
      <p:ext uri="{BB962C8B-B14F-4D97-AF65-F5344CB8AC3E}">
        <p14:creationId xmlns:p14="http://schemas.microsoft.com/office/powerpoint/2010/main" val="13995467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1230</Words>
  <Application>Microsoft Office PowerPoint</Application>
  <DocSecurity>0</DocSecurity>
  <PresentationFormat>On-screen Show (4:3)</PresentationFormat>
  <Paragraphs>186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Bahnschrift</vt:lpstr>
      <vt:lpstr>Courier New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Aaradhya Banginwar</cp:lastModifiedBy>
  <cp:revision>9</cp:revision>
  <dcterms:created xsi:type="dcterms:W3CDTF">2026-10-14T10:56:48Z</dcterms:created>
  <dcterms:modified xsi:type="dcterms:W3CDTF">2026-10-29T08:21:43Z</dcterms:modified>
</cp:coreProperties>
</file>